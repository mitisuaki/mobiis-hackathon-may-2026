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34440" cy="6858000"/>
          </a:xfrm>
          <a:prstGeom prst="rect">
            <a:avLst/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(4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201168"/>
            <a:ext cx="932688" cy="1616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86868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Aptos"/>
              </a:rPr>
              <a:t>Revenue
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162763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122755"/>
          </a:solidFill>
          <a:ln w="12700">
            <a:solidFill>
              <a:srgbClr val="122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" y="1627632"/>
            <a:ext cx="45720" cy="475488"/>
          </a:xfrm>
          <a:prstGeom prst="rect">
            <a:avLst/>
          </a:prstGeom>
          <a:solidFill>
            <a:srgbClr val="14CD78"/>
          </a:solidFill>
          <a:ln w="12700">
            <a:solidFill>
              <a:srgbClr val="14C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56032" y="1764792"/>
            <a:ext cx="182880" cy="182880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180136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77393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Aptos"/>
              </a:rPr>
              <a:t>Cockpit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222199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56032" y="235915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" y="239572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236829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>
                <a:solidFill>
                  <a:srgbClr val="C2CCE0"/>
                </a:solidFill>
              </a:rPr>
              <a:t>Meet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" y="281635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56032" y="295351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6032" y="299008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296265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CRM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" y="341071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56032" y="354787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358444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355701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Health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" y="400507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56032" y="414223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6032" y="417880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415137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Desk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" y="459943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56032" y="473659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032" y="477316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474573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ROI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" y="6236208"/>
            <a:ext cx="896112" cy="310896"/>
          </a:xfrm>
          <a:prstGeom prst="roundRect">
            <a:avLst>
              <a:gd name="adj" fmla="val 12000"/>
            </a:avLst>
          </a:prstGeom>
          <a:solidFill>
            <a:srgbClr val="122755"/>
          </a:solidFill>
          <a:ln w="12700">
            <a:solidFill>
              <a:srgbClr val="122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4592" y="6300216"/>
            <a:ext cx="89611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Aptos"/>
              </a:rPr>
              <a:t>IA </a:t>
            </a:r>
            <a:r>
              <a:rPr sz="1050" b="1" i="0" dirty="0">
                <a:solidFill>
                  <a:srgbClr val="00B050"/>
                </a:solidFill>
                <a:latin typeface="Aptos"/>
              </a:rPr>
              <a:t>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81328" y="502920"/>
            <a:ext cx="1143000" cy="246888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81328" y="553212"/>
            <a:ext cx="1143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14CD78"/>
                </a:solidFill>
                <a:latin typeface="Aptos"/>
              </a:rPr>
              <a:t>Hackathon 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81328" y="9144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21F37"/>
                </a:solidFill>
                <a:latin typeface="Aptos"/>
              </a:rPr>
              <a:t>Mobiis Revenue Copilot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157276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A1939"/>
                </a:solidFill>
                <a:latin typeface="Aptos"/>
              </a:rPr>
              <a:t>Da reunião à decisão comercial em minutos.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2084831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>
                <a:solidFill>
                  <a:srgbClr val="607089"/>
                </a:solidFill>
              </a:rPr>
              <a:t>Uma experiência de software para transformar Teams, Pipedrive e Desk Manager em ação inteligente.</a:t>
            </a:r>
          </a:p>
        </p:txBody>
      </p:sp>
      <p:sp>
        <p:nvSpPr>
          <p:cNvPr id="37" name="Oval 36"/>
          <p:cNvSpPr/>
          <p:nvPr/>
        </p:nvSpPr>
        <p:spPr>
          <a:xfrm>
            <a:off x="1481328" y="2798064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627632" y="2743200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21F37"/>
                </a:solidFill>
                <a:latin typeface="Aptos"/>
              </a:rPr>
              <a:t>Meeting Intelligence: </a:t>
            </a:r>
            <a:r>
              <a:rPr sz="1100" b="0" i="0" dirty="0" err="1">
                <a:solidFill>
                  <a:srgbClr val="121F37"/>
                </a:solidFill>
                <a:latin typeface="Aptos"/>
              </a:rPr>
              <a:t>transcrição</a:t>
            </a:r>
            <a:r>
              <a:rPr sz="1100" b="0" i="0" dirty="0">
                <a:solidFill>
                  <a:srgbClr val="121F37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121F37"/>
                </a:solidFill>
                <a:latin typeface="Aptos"/>
              </a:rPr>
              <a:t>entra</a:t>
            </a:r>
            <a:r>
              <a:rPr sz="1100" b="0" i="0" dirty="0">
                <a:solidFill>
                  <a:srgbClr val="121F37"/>
                </a:solidFill>
                <a:latin typeface="Aptos"/>
              </a:rPr>
              <a:t>, insight </a:t>
            </a:r>
            <a:r>
              <a:rPr sz="1100" b="0" i="0" dirty="0" err="1">
                <a:solidFill>
                  <a:srgbClr val="121F37"/>
                </a:solidFill>
                <a:latin typeface="Aptos"/>
              </a:rPr>
              <a:t>sai</a:t>
            </a:r>
            <a:r>
              <a:rPr sz="1100" b="0" i="0" dirty="0">
                <a:solidFill>
                  <a:srgbClr val="121F37"/>
                </a:solidFill>
                <a:latin typeface="Aptos"/>
              </a:rPr>
              <a:t>.</a:t>
            </a:r>
          </a:p>
        </p:txBody>
      </p:sp>
      <p:sp>
        <p:nvSpPr>
          <p:cNvPr id="39" name="Oval 38"/>
          <p:cNvSpPr/>
          <p:nvPr/>
        </p:nvSpPr>
        <p:spPr>
          <a:xfrm>
            <a:off x="1481328" y="3145536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627632" y="3090672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21F37"/>
                </a:solidFill>
                <a:latin typeface="Aptos"/>
              </a:rPr>
              <a:t>CRM Intelligence: </a:t>
            </a:r>
            <a:r>
              <a:rPr sz="1100" b="0" i="0" dirty="0" err="1">
                <a:solidFill>
                  <a:srgbClr val="121F37"/>
                </a:solidFill>
                <a:latin typeface="Aptos"/>
              </a:rPr>
              <a:t>resumo</a:t>
            </a:r>
            <a:r>
              <a:rPr sz="1100" b="0" i="0" dirty="0">
                <a:solidFill>
                  <a:srgbClr val="121F37"/>
                </a:solidFill>
                <a:latin typeface="Aptos"/>
              </a:rPr>
              <a:t>, BANT, SPIN e </a:t>
            </a:r>
            <a:r>
              <a:rPr sz="1100" b="0" i="0" dirty="0" err="1">
                <a:solidFill>
                  <a:srgbClr val="121F37"/>
                </a:solidFill>
                <a:latin typeface="Aptos"/>
              </a:rPr>
              <a:t>próximos</a:t>
            </a:r>
            <a:r>
              <a:rPr sz="1100" b="0" i="0" dirty="0">
                <a:solidFill>
                  <a:srgbClr val="121F37"/>
                </a:solidFill>
                <a:latin typeface="Aptos"/>
              </a:rPr>
              <a:t> </a:t>
            </a:r>
            <a:r>
              <a:rPr sz="1100" b="0" i="0" dirty="0" err="1">
                <a:solidFill>
                  <a:srgbClr val="121F37"/>
                </a:solidFill>
                <a:latin typeface="Aptos"/>
              </a:rPr>
              <a:t>passos</a:t>
            </a:r>
            <a:r>
              <a:rPr sz="1100" b="0" i="0" dirty="0">
                <a:solidFill>
                  <a:srgbClr val="121F37"/>
                </a:solidFill>
                <a:latin typeface="Aptos"/>
              </a:rPr>
              <a:t>.</a:t>
            </a:r>
          </a:p>
        </p:txBody>
      </p:sp>
      <p:sp>
        <p:nvSpPr>
          <p:cNvPr id="41" name="Oval 40"/>
          <p:cNvSpPr/>
          <p:nvPr/>
        </p:nvSpPr>
        <p:spPr>
          <a:xfrm>
            <a:off x="1481328" y="3493008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627632" y="3438144"/>
            <a:ext cx="4754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21F37"/>
                </a:solidFill>
                <a:latin typeface="Aptos"/>
              </a:rPr>
              <a:t>Health &amp; Desk AI: </a:t>
            </a:r>
            <a:r>
              <a:rPr sz="1100" b="0" i="0" dirty="0" err="1">
                <a:solidFill>
                  <a:srgbClr val="121F37"/>
                </a:solidFill>
                <a:latin typeface="Aptos"/>
              </a:rPr>
              <a:t>risco</a:t>
            </a:r>
            <a:r>
              <a:rPr sz="1100" b="0" i="0" dirty="0">
                <a:solidFill>
                  <a:srgbClr val="121F37"/>
                </a:solidFill>
                <a:latin typeface="Aptos"/>
              </a:rPr>
              <a:t>, </a:t>
            </a:r>
            <a:r>
              <a:rPr sz="1100" b="0" i="0" dirty="0" err="1">
                <a:solidFill>
                  <a:srgbClr val="121F37"/>
                </a:solidFill>
                <a:latin typeface="Aptos"/>
              </a:rPr>
              <a:t>prioridade</a:t>
            </a:r>
            <a:r>
              <a:rPr sz="1100" b="0" i="0" dirty="0">
                <a:solidFill>
                  <a:srgbClr val="121F37"/>
                </a:solidFill>
                <a:latin typeface="Aptos"/>
              </a:rPr>
              <a:t> e </a:t>
            </a:r>
            <a:r>
              <a:rPr sz="1100" b="0" i="0" dirty="0" err="1">
                <a:solidFill>
                  <a:srgbClr val="121F37"/>
                </a:solidFill>
                <a:latin typeface="Aptos"/>
              </a:rPr>
              <a:t>abertura</a:t>
            </a:r>
            <a:r>
              <a:rPr sz="1100" b="0" i="0" dirty="0">
                <a:solidFill>
                  <a:srgbClr val="121F37"/>
                </a:solidFill>
                <a:latin typeface="Aptos"/>
              </a:rPr>
              <a:t> de </a:t>
            </a:r>
            <a:r>
              <a:rPr sz="1100" b="0" i="0" dirty="0" err="1">
                <a:solidFill>
                  <a:srgbClr val="121F37"/>
                </a:solidFill>
                <a:latin typeface="Aptos"/>
              </a:rPr>
              <a:t>chamados</a:t>
            </a:r>
            <a:r>
              <a:rPr sz="1100" b="0" i="0" dirty="0">
                <a:solidFill>
                  <a:srgbClr val="121F37"/>
                </a:solidFill>
                <a:latin typeface="Aptos"/>
              </a:rPr>
              <a:t>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81328" y="4160520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14CD78"/>
          </a:solidFill>
          <a:ln w="12700">
            <a:solidFill>
              <a:srgbClr val="14C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481328" y="426110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 dirty="0">
                <a:solidFill>
                  <a:srgbClr val="FFFFFF"/>
                </a:solidFill>
                <a:latin typeface="Aptos"/>
              </a:rPr>
              <a:t>Ver jornadas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81528" y="4160520"/>
            <a:ext cx="1325880" cy="384048"/>
          </a:xfrm>
          <a:prstGeom prst="roundRect">
            <a:avLst>
              <a:gd name="adj" fmla="val 12000"/>
            </a:avLst>
          </a:prstGeom>
          <a:solidFill>
            <a:srgbClr val="2663FF"/>
          </a:solidFill>
          <a:ln w="12700">
            <a:solidFill>
              <a:srgbClr val="26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081528" y="4261104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 dirty="0">
                <a:solidFill>
                  <a:srgbClr val="FFFFFF"/>
                </a:solidFill>
                <a:latin typeface="Aptos"/>
              </a:rPr>
              <a:t>Pitch pronto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46520" y="777240"/>
            <a:ext cx="5166360" cy="5349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720840" y="1069848"/>
            <a:ext cx="4617720" cy="530352"/>
          </a:xfrm>
          <a:prstGeom prst="roundRect">
            <a:avLst>
              <a:gd name="adj" fmla="val 12000"/>
            </a:avLst>
          </a:prstGeom>
          <a:solidFill>
            <a:srgbClr val="FAFC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67728" y="1261872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 i="0">
                <a:solidFill>
                  <a:srgbClr val="121F37"/>
                </a:solidFill>
                <a:latin typeface="Aptos"/>
              </a:rPr>
              <a:t>Revenue Workspace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87000" y="1225296"/>
            <a:ext cx="777240" cy="246888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287000" y="1275588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19" b="1" i="0">
                <a:solidFill>
                  <a:srgbClr val="14CD78"/>
                </a:solidFill>
                <a:latin typeface="Aptos"/>
              </a:rPr>
              <a:t>AO VIVO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20840" y="1874519"/>
            <a:ext cx="1325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867144" y="2029967"/>
            <a:ext cx="256032" cy="256032"/>
          </a:xfrm>
          <a:prstGeom prst="ellipse">
            <a:avLst/>
          </a:prstGeom>
          <a:solidFill>
            <a:srgbClr val="E8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949440" y="2112263"/>
            <a:ext cx="91440" cy="91440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87184" y="2103120"/>
            <a:ext cx="102412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>
                <a:solidFill>
                  <a:srgbClr val="607089"/>
                </a:solidFill>
                <a:latin typeface="Aptos"/>
              </a:rPr>
              <a:t>Horas </a:t>
            </a:r>
            <a:r>
              <a:rPr sz="900" b="0" i="0" dirty="0" err="1">
                <a:solidFill>
                  <a:srgbClr val="607089"/>
                </a:solidFill>
                <a:latin typeface="Aptos"/>
              </a:rPr>
              <a:t>poupadas</a:t>
            </a:r>
            <a:endParaRPr sz="900" b="0" i="0" dirty="0">
              <a:solidFill>
                <a:srgbClr val="607089"/>
              </a:solidFill>
              <a:latin typeface="Apto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885431" y="2313432"/>
            <a:ext cx="10515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21F37"/>
                </a:solidFill>
                <a:latin typeface="Aptos"/>
              </a:rPr>
              <a:t>64h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24927" y="2504009"/>
            <a:ext cx="512064" cy="214884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70063" y="2542032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 dirty="0">
                <a:solidFill>
                  <a:srgbClr val="14CD78"/>
                </a:solidFill>
                <a:latin typeface="Aptos"/>
              </a:rPr>
              <a:t>+72%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39327" y="1874519"/>
            <a:ext cx="1325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485632" y="2029967"/>
            <a:ext cx="256032" cy="256032"/>
          </a:xfrm>
          <a:prstGeom prst="ellipse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567928" y="2112263"/>
            <a:ext cx="91440" cy="91440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842248" y="2084832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 dirty="0">
                <a:solidFill>
                  <a:srgbClr val="607089"/>
                </a:solidFill>
                <a:latin typeface="Aptos"/>
              </a:rPr>
              <a:t>Follow-ups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19" y="231343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21F37"/>
                </a:solidFill>
                <a:latin typeface="Aptos"/>
              </a:rPr>
              <a:t>92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43744" y="2496312"/>
            <a:ext cx="520295" cy="228600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878824" y="2546604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2663FF"/>
                </a:solidFill>
                <a:latin typeface="Aptos"/>
              </a:rPr>
              <a:t>+31%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957816" y="1874519"/>
            <a:ext cx="1325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0104120" y="2029967"/>
            <a:ext cx="256032" cy="256032"/>
          </a:xfrm>
          <a:prstGeom prst="ellipse">
            <a:avLst/>
          </a:prstGeom>
          <a:solidFill>
            <a:srgbClr val="E8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0186416" y="2112263"/>
            <a:ext cx="91440" cy="91440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483940" y="2103120"/>
            <a:ext cx="1000000" cy="1477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i="0" dirty="0">
                <a:solidFill>
                  <a:srgbClr val="607089"/>
                </a:solidFill>
                <a:latin typeface="Aptos"/>
              </a:rPr>
              <a:t>Deals </a:t>
            </a:r>
            <a:r>
              <a:rPr sz="960" i="0" dirty="0" err="1">
                <a:solidFill>
                  <a:srgbClr val="607089"/>
                </a:solidFill>
                <a:latin typeface="Aptos"/>
              </a:rPr>
              <a:t>quentes</a:t>
            </a:r>
            <a:endParaRPr sz="960" i="0" dirty="0">
              <a:solidFill>
                <a:srgbClr val="607089"/>
              </a:solidFill>
              <a:latin typeface="Apto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0122408" y="231343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dirty="0">
                <a:solidFill>
                  <a:srgbClr val="121F37"/>
                </a:solidFill>
                <a:latin typeface="Aptos"/>
              </a:rPr>
              <a:t>18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497312" y="2496312"/>
            <a:ext cx="621792" cy="222581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497312" y="2546604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14CD78"/>
                </a:solidFill>
                <a:latin typeface="Aptos"/>
              </a:rPr>
              <a:t>+15%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720840" y="3063240"/>
            <a:ext cx="2880360" cy="2212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949440" y="327355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Resumo de reuniões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3502152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607089"/>
                </a:solidFill>
                <a:latin typeface="Aptos"/>
              </a:rPr>
              <a:t>Insights críticos da semana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49440" y="380390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607089"/>
                </a:solidFill>
                <a:latin typeface="Aptos"/>
              </a:rPr>
              <a:t>Discovery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818119" y="3840480"/>
            <a:ext cx="1417320" cy="109728"/>
          </a:xfrm>
          <a:prstGeom prst="roundRect">
            <a:avLst>
              <a:gd name="adj" fmla="val 12000"/>
            </a:avLst>
          </a:prstGeom>
          <a:solidFill>
            <a:srgbClr val="EDF1F8"/>
          </a:solidFill>
          <a:ln w="12700">
            <a:solidFill>
              <a:srgbClr val="ED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7818119" y="3840480"/>
            <a:ext cx="963777" cy="109728"/>
          </a:xfrm>
          <a:prstGeom prst="roundRect">
            <a:avLst>
              <a:gd name="adj" fmla="val 12000"/>
            </a:avLst>
          </a:prstGeom>
          <a:solidFill>
            <a:srgbClr val="2663FF"/>
          </a:solidFill>
          <a:ln w="12700">
            <a:solidFill>
              <a:srgbClr val="26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372600" y="3803904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19" b="1" i="0">
                <a:solidFill>
                  <a:srgbClr val="121F37"/>
                </a:solidFill>
                <a:latin typeface="Aptos"/>
              </a:rPr>
              <a:t>68%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49440" y="4160520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607089"/>
                </a:solidFill>
                <a:latin typeface="Aptos"/>
              </a:rPr>
              <a:t>WMS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818119" y="4197096"/>
            <a:ext cx="1417320" cy="109728"/>
          </a:xfrm>
          <a:prstGeom prst="roundRect">
            <a:avLst>
              <a:gd name="adj" fmla="val 12000"/>
            </a:avLst>
          </a:prstGeom>
          <a:solidFill>
            <a:srgbClr val="EDF1F8"/>
          </a:solidFill>
          <a:ln w="12700">
            <a:solidFill>
              <a:srgbClr val="ED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7818119" y="4197096"/>
            <a:ext cx="1162202" cy="109728"/>
          </a:xfrm>
          <a:prstGeom prst="roundRect">
            <a:avLst>
              <a:gd name="adj" fmla="val 12000"/>
            </a:avLst>
          </a:prstGeom>
          <a:solidFill>
            <a:srgbClr val="14CD78"/>
          </a:solidFill>
          <a:ln w="12700">
            <a:solidFill>
              <a:srgbClr val="14C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372600" y="416052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19" b="1" i="0">
                <a:solidFill>
                  <a:srgbClr val="121F37"/>
                </a:solidFill>
                <a:latin typeface="Aptos"/>
              </a:rPr>
              <a:t>82%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49440" y="4517136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607089"/>
                </a:solidFill>
                <a:latin typeface="Aptos"/>
              </a:rPr>
              <a:t>YMS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818119" y="4553712"/>
            <a:ext cx="1417320" cy="109728"/>
          </a:xfrm>
          <a:prstGeom prst="roundRect">
            <a:avLst>
              <a:gd name="adj" fmla="val 12000"/>
            </a:avLst>
          </a:prstGeom>
          <a:solidFill>
            <a:srgbClr val="EDF1F8"/>
          </a:solidFill>
          <a:ln w="12700">
            <a:solidFill>
              <a:srgbClr val="ED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7818119" y="4553712"/>
            <a:ext cx="765352" cy="109728"/>
          </a:xfrm>
          <a:prstGeom prst="roundRect">
            <a:avLst>
              <a:gd name="adj" fmla="val 12000"/>
            </a:avLst>
          </a:prstGeom>
          <a:solidFill>
            <a:srgbClr val="2663FF"/>
          </a:solidFill>
          <a:ln w="12700">
            <a:solidFill>
              <a:srgbClr val="26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372600" y="4517136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19" b="1" i="0">
                <a:solidFill>
                  <a:srgbClr val="121F37"/>
                </a:solidFill>
                <a:latin typeface="Aptos"/>
              </a:rPr>
              <a:t>54%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49440" y="4873752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607089"/>
                </a:solidFill>
                <a:latin typeface="Aptos"/>
              </a:rPr>
              <a:t>Expansão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818119" y="4910328"/>
            <a:ext cx="1417320" cy="109728"/>
          </a:xfrm>
          <a:prstGeom prst="roundRect">
            <a:avLst>
              <a:gd name="adj" fmla="val 12000"/>
            </a:avLst>
          </a:prstGeom>
          <a:solidFill>
            <a:srgbClr val="EDF1F8"/>
          </a:solidFill>
          <a:ln w="12700">
            <a:solidFill>
              <a:srgbClr val="ED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7818119" y="4910328"/>
            <a:ext cx="1048816" cy="109728"/>
          </a:xfrm>
          <a:prstGeom prst="roundRect">
            <a:avLst>
              <a:gd name="adj" fmla="val 12000"/>
            </a:avLst>
          </a:prstGeom>
          <a:solidFill>
            <a:srgbClr val="14CD78"/>
          </a:solidFill>
          <a:ln w="12700">
            <a:solidFill>
              <a:srgbClr val="14C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372600" y="4873752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19" b="1" i="0">
                <a:solidFill>
                  <a:srgbClr val="121F37"/>
                </a:solidFill>
                <a:latin typeface="Aptos"/>
              </a:rPr>
              <a:t>74%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829800" y="3063240"/>
            <a:ext cx="1508760" cy="1005840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920000" y="3218914"/>
            <a:ext cx="1400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607089"/>
                </a:solidFill>
                <a:latin typeface="Aptos"/>
              </a:rPr>
              <a:t>Opportunity</a:t>
            </a:r>
            <a:r>
              <a:rPr lang="pt-BR" sz="1000" b="1" i="0" dirty="0">
                <a:solidFill>
                  <a:srgbClr val="607089"/>
                </a:solidFill>
                <a:latin typeface="Aptos"/>
              </a:rPr>
              <a:t> </a:t>
            </a:r>
            <a:r>
              <a:rPr sz="1000" b="1" i="0" dirty="0">
                <a:solidFill>
                  <a:srgbClr val="607089"/>
                </a:solidFill>
                <a:latin typeface="Aptos"/>
              </a:rPr>
              <a:t>Score</a:t>
            </a:r>
            <a:endParaRPr lang="pt-BR" sz="1000" b="1" i="0">
              <a:solidFill>
                <a:srgbClr val="607089"/>
              </a:solidFill>
              <a:latin typeface="Aptos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9920000" y="3380000"/>
            <a:ext cx="14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>
                <a:solidFill>
                  <a:srgbClr val="121F37"/>
                </a:solidFill>
                <a:latin typeface="Aptos"/>
              </a:rPr>
              <a:t>82/100</a:t>
            </a:r>
            <a:endParaRPr lang="pt-BR" sz="2000" b="1" i="0">
              <a:solidFill>
                <a:srgbClr val="121F37"/>
              </a:solidFill>
              <a:latin typeface="Aptos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9829800" y="4343400"/>
            <a:ext cx="1508760" cy="932688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920000" y="4443984"/>
            <a:ext cx="1400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>
                <a:solidFill>
                  <a:srgbClr val="607089"/>
                </a:solidFill>
                <a:latin typeface="Aptos"/>
              </a:rPr>
              <a:t>Insight-</a:t>
            </a:r>
            <a:r>
              <a:rPr sz="950" b="1" i="0" dirty="0" err="1">
                <a:solidFill>
                  <a:srgbClr val="607089"/>
                </a:solidFill>
                <a:latin typeface="Aptos"/>
              </a:rPr>
              <a:t>chave</a:t>
            </a:r>
            <a:endParaRPr sz="950" b="1" i="0" dirty="0">
              <a:solidFill>
                <a:srgbClr val="607089"/>
              </a:solidFill>
              <a:latin typeface="Apto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9920000" y="4650000"/>
            <a:ext cx="1340000" cy="332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 dirty="0">
                <a:solidFill>
                  <a:srgbClr val="121F37"/>
                </a:solidFill>
                <a:latin typeface="Aptos"/>
              </a:rPr>
              <a:t>Cada </a:t>
            </a:r>
            <a:r>
              <a:rPr sz="1080" b="1" i="0" dirty="0" err="1">
                <a:solidFill>
                  <a:srgbClr val="121F37"/>
                </a:solidFill>
                <a:latin typeface="Aptos"/>
              </a:rPr>
              <a:t>reunião</a:t>
            </a:r>
            <a:r>
              <a:rPr sz="1080" b="1" i="0" dirty="0">
                <a:solidFill>
                  <a:srgbClr val="121F37"/>
                </a:solidFill>
                <a:latin typeface="Aptos"/>
              </a:rPr>
              <a:t> </a:t>
            </a:r>
            <a:r>
              <a:rPr sz="1080" b="1" i="0" dirty="0" err="1">
                <a:solidFill>
                  <a:srgbClr val="121F37"/>
                </a:solidFill>
                <a:latin typeface="Aptos"/>
              </a:rPr>
              <a:t>vira</a:t>
            </a:r>
            <a:r>
              <a:rPr sz="1080" b="1" i="0" dirty="0">
                <a:solidFill>
                  <a:srgbClr val="121F37"/>
                </a:solidFill>
                <a:latin typeface="Aptos"/>
              </a:rPr>
              <a:t> </a:t>
            </a:r>
            <a:r>
              <a:rPr sz="1080" b="1" i="0" dirty="0" err="1">
                <a:solidFill>
                  <a:srgbClr val="121F37"/>
                </a:solidFill>
                <a:latin typeface="Aptos"/>
              </a:rPr>
              <a:t>ação</a:t>
            </a:r>
            <a:r>
              <a:rPr sz="1080" b="1" i="0" dirty="0">
                <a:solidFill>
                  <a:srgbClr val="121F37"/>
                </a:solidFill>
                <a:latin typeface="Aptos"/>
              </a:rPr>
              <a:t> </a:t>
            </a:r>
            <a:r>
              <a:rPr sz="1080" b="1" i="0" dirty="0" err="1">
                <a:solidFill>
                  <a:srgbClr val="121F37"/>
                </a:solidFill>
                <a:latin typeface="Aptos"/>
              </a:rPr>
              <a:t>objetiva</a:t>
            </a:r>
            <a:r>
              <a:rPr sz="1080" b="1" i="0" dirty="0">
                <a:solidFill>
                  <a:srgbClr val="121F37"/>
                </a:solidFill>
                <a:latin typeface="Aptos"/>
              </a:rPr>
              <a:t>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81328" y="610819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07089"/>
                </a:solidFill>
                <a:latin typeface="Aptos"/>
              </a:rPr>
              <a:t>Mensagem de impacto: menos burocracia, mais ação e uma experiência visual de software real.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34440" cy="6858000"/>
          </a:xfrm>
          <a:prstGeom prst="rect">
            <a:avLst/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(4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201168"/>
            <a:ext cx="932688" cy="1616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86868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Aptos"/>
              </a:rPr>
              <a:t>Revenue
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162763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122755"/>
          </a:solidFill>
          <a:ln w="12700">
            <a:solidFill>
              <a:srgbClr val="122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" y="1627632"/>
            <a:ext cx="45720" cy="475488"/>
          </a:xfrm>
          <a:prstGeom prst="rect">
            <a:avLst/>
          </a:prstGeom>
          <a:solidFill>
            <a:srgbClr val="14CD78"/>
          </a:solidFill>
          <a:ln w="12700">
            <a:solidFill>
              <a:srgbClr val="14C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56032" y="1764792"/>
            <a:ext cx="182880" cy="182880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180136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77393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Aptos"/>
              </a:rPr>
              <a:t>Cockpit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222199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56032" y="235915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" y="239572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236829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>
                <a:solidFill>
                  <a:srgbClr val="C2CCE0"/>
                </a:solidFill>
              </a:rPr>
              <a:t>Meet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" y="281635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56032" y="295351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6032" y="299008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296265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CRM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" y="341071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56032" y="354787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358444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355701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Health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" y="400507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56032" y="414223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6032" y="417880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415137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Desk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" y="459943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56032" y="473659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032" y="477316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474573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ROI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" y="6236208"/>
            <a:ext cx="896112" cy="310896"/>
          </a:xfrm>
          <a:prstGeom prst="roundRect">
            <a:avLst>
              <a:gd name="adj" fmla="val 12000"/>
            </a:avLst>
          </a:prstGeom>
          <a:solidFill>
            <a:srgbClr val="122755"/>
          </a:solidFill>
          <a:ln w="12700">
            <a:solidFill>
              <a:srgbClr val="122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4592" y="6300216"/>
            <a:ext cx="89611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Aptos"/>
              </a:rPr>
              <a:t>IA </a:t>
            </a:r>
            <a:r>
              <a:rPr sz="1050" b="1" i="0" dirty="0">
                <a:solidFill>
                  <a:srgbClr val="00B050"/>
                </a:solidFill>
                <a:latin typeface="Aptos"/>
              </a:rPr>
              <a:t>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347472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21F37"/>
                </a:solidFill>
                <a:latin typeface="Aptos"/>
              </a:rPr>
              <a:t>Cockpit Comercial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749808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07089"/>
                </a:solidFill>
                <a:latin typeface="Aptos"/>
              </a:rPr>
              <a:t>Dashboard executivo para liderança comercial, pré-vendas e gestão de contas.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12680" y="292608"/>
            <a:ext cx="1719072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95560" y="411480"/>
            <a:ext cx="11430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07089"/>
                </a:solidFill>
                <a:latin typeface="Aptos"/>
              </a:rPr>
              <a:t>Buscar insight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12680" y="786384"/>
            <a:ext cx="1719072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168128" y="896112"/>
            <a:ext cx="201168" cy="201168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68128" y="941832"/>
            <a:ext cx="201168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1592" y="877824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121F37"/>
                </a:solidFill>
                <a:latin typeface="Aptos"/>
              </a:rPr>
              <a:t>Silas Olanda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51592" y="1024128"/>
            <a:ext cx="10058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607089"/>
                </a:solidFill>
                <a:latin typeface="Aptos"/>
              </a:rPr>
              <a:t>Hackathon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81328" y="137160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627632" y="1527048"/>
            <a:ext cx="256032" cy="256032"/>
          </a:xfrm>
          <a:prstGeom prst="ellipse">
            <a:avLst/>
          </a:prstGeom>
          <a:solidFill>
            <a:srgbClr val="E8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709928" y="1609344"/>
            <a:ext cx="91440" cy="91440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984248" y="1602560"/>
            <a:ext cx="1335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 dirty="0">
                <a:solidFill>
                  <a:srgbClr val="607089"/>
                </a:solidFill>
                <a:latin typeface="Aptos"/>
              </a:rPr>
              <a:t>Revenue Score </a:t>
            </a:r>
            <a:r>
              <a:rPr sz="960" b="0" i="0" dirty="0" err="1">
                <a:solidFill>
                  <a:srgbClr val="607089"/>
                </a:solidFill>
                <a:latin typeface="Aptos"/>
              </a:rPr>
              <a:t>médio</a:t>
            </a:r>
            <a:endParaRPr sz="960" b="0" i="0" dirty="0">
              <a:solidFill>
                <a:srgbClr val="607089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45920" y="1810512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21F37"/>
                </a:solidFill>
                <a:latin typeface="Aptos"/>
              </a:rPr>
              <a:t>84/100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70048" y="1993392"/>
            <a:ext cx="621792" cy="246888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670048" y="2043684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14CD78"/>
                </a:solidFill>
                <a:latin typeface="Aptos"/>
              </a:rPr>
              <a:t>+12%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730752" y="137160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877056" y="1527048"/>
            <a:ext cx="256032" cy="256032"/>
          </a:xfrm>
          <a:prstGeom prst="ellipse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959352" y="1609344"/>
            <a:ext cx="91440" cy="91440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19956" y="1616129"/>
            <a:ext cx="1335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 dirty="0" err="1">
                <a:solidFill>
                  <a:srgbClr val="607089"/>
                </a:solidFill>
                <a:latin typeface="Aptos"/>
              </a:rPr>
              <a:t>Oportunidades</a:t>
            </a:r>
            <a:r>
              <a:rPr sz="960" b="0" i="0" dirty="0">
                <a:solidFill>
                  <a:srgbClr val="607089"/>
                </a:solidFill>
                <a:latin typeface="Aptos"/>
              </a:rPr>
              <a:t> </a:t>
            </a:r>
            <a:r>
              <a:rPr sz="960" b="0" i="0" dirty="0" err="1">
                <a:solidFill>
                  <a:srgbClr val="607089"/>
                </a:solidFill>
                <a:latin typeface="Aptos"/>
              </a:rPr>
              <a:t>quentes</a:t>
            </a:r>
            <a:endParaRPr sz="960" b="0" i="0" dirty="0">
              <a:solidFill>
                <a:srgbClr val="607089"/>
              </a:solidFill>
              <a:latin typeface="Apto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895344" y="1810512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21F37"/>
                </a:solidFill>
                <a:latin typeface="Aptos"/>
              </a:rPr>
              <a:t>27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19472" y="1993392"/>
            <a:ext cx="621792" cy="246888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919472" y="2043684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2663FF"/>
                </a:solidFill>
                <a:latin typeface="Aptos"/>
              </a:rPr>
              <a:t>+8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80176" y="137160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126480" y="1527048"/>
            <a:ext cx="256032" cy="256032"/>
          </a:xfrm>
          <a:prstGeom prst="ellipse">
            <a:avLst/>
          </a:prstGeom>
          <a:solidFill>
            <a:srgbClr val="E8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208776" y="1609344"/>
            <a:ext cx="91440" cy="91440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83096" y="1605608"/>
            <a:ext cx="1335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 dirty="0">
                <a:solidFill>
                  <a:srgbClr val="607089"/>
                </a:solidFill>
                <a:latin typeface="Aptos"/>
              </a:rPr>
              <a:t>Follow-ups no </a:t>
            </a:r>
            <a:r>
              <a:rPr sz="960" b="0" i="0" dirty="0" err="1">
                <a:solidFill>
                  <a:srgbClr val="607089"/>
                </a:solidFill>
                <a:latin typeface="Aptos"/>
              </a:rPr>
              <a:t>prazo</a:t>
            </a:r>
            <a:endParaRPr sz="960" b="0" i="0" dirty="0">
              <a:solidFill>
                <a:srgbClr val="607089"/>
              </a:solidFill>
              <a:latin typeface="Apto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144768" y="1810512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21F37"/>
                </a:solidFill>
                <a:latin typeface="Aptos"/>
              </a:rPr>
              <a:t>93%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168895" y="1993392"/>
            <a:ext cx="621792" cy="246888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168895" y="2043684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14CD78"/>
                </a:solidFill>
                <a:latin typeface="Aptos"/>
              </a:rPr>
              <a:t>+11%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29600" y="137160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375904" y="1527048"/>
            <a:ext cx="256032" cy="256032"/>
          </a:xfrm>
          <a:prstGeom prst="ellipse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458200" y="1609344"/>
            <a:ext cx="91440" cy="91440"/>
          </a:xfrm>
          <a:prstGeom prst="ellipse">
            <a:avLst/>
          </a:prstGeom>
          <a:solidFill>
            <a:srgbClr val="FF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732520" y="1605608"/>
            <a:ext cx="1335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 dirty="0">
                <a:solidFill>
                  <a:srgbClr val="607089"/>
                </a:solidFill>
                <a:latin typeface="Aptos"/>
              </a:rPr>
              <a:t>Horas </a:t>
            </a:r>
            <a:r>
              <a:rPr sz="960" b="0" i="0" dirty="0" err="1">
                <a:solidFill>
                  <a:srgbClr val="607089"/>
                </a:solidFill>
                <a:latin typeface="Aptos"/>
              </a:rPr>
              <a:t>poupadas</a:t>
            </a:r>
            <a:r>
              <a:rPr sz="960" b="0" i="0" dirty="0">
                <a:solidFill>
                  <a:srgbClr val="607089"/>
                </a:solidFill>
                <a:latin typeface="Aptos"/>
              </a:rPr>
              <a:t>/</a:t>
            </a:r>
            <a:r>
              <a:rPr sz="960" b="0" i="0" dirty="0" err="1">
                <a:solidFill>
                  <a:srgbClr val="607089"/>
                </a:solidFill>
                <a:latin typeface="Aptos"/>
              </a:rPr>
              <a:t>mês</a:t>
            </a:r>
            <a:endParaRPr sz="960" b="0" i="0" dirty="0">
              <a:solidFill>
                <a:srgbClr val="607089"/>
              </a:solidFill>
              <a:latin typeface="Apto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394192" y="1810512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21F37"/>
                </a:solidFill>
                <a:latin typeface="Aptos"/>
              </a:rPr>
              <a:t>46h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418320" y="1993392"/>
            <a:ext cx="621792" cy="246888"/>
          </a:xfrm>
          <a:prstGeom prst="roundRect">
            <a:avLst>
              <a:gd name="adj" fmla="val 12000"/>
            </a:avLst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418320" y="2043684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FFA825"/>
                </a:solidFill>
                <a:latin typeface="Aptos"/>
              </a:rPr>
              <a:t>-70%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481328" y="2606040"/>
            <a:ext cx="544068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719072" y="285292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Evolução do pipeline priorizado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19072" y="3081528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607089"/>
                </a:solidFill>
                <a:latin typeface="Aptos"/>
              </a:rPr>
              <a:t>Mais velocidade com menos esforço operacional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828800" y="4983479"/>
            <a:ext cx="4617720" cy="0"/>
          </a:xfrm>
          <a:prstGeom prst="line">
            <a:avLst/>
          </a:prstGeom>
          <a:ln w="7620">
            <a:solidFill>
              <a:srgbClr val="E6EB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572768" y="4919471"/>
            <a:ext cx="182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607089"/>
                </a:solidFill>
                <a:latin typeface="Aptos"/>
              </a:rPr>
              <a:t>0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828800" y="4606290"/>
            <a:ext cx="4617720" cy="0"/>
          </a:xfrm>
          <a:prstGeom prst="line">
            <a:avLst/>
          </a:prstGeom>
          <a:ln w="7620">
            <a:solidFill>
              <a:srgbClr val="E6EB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572768" y="4542281"/>
            <a:ext cx="182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607089"/>
                </a:solidFill>
                <a:latin typeface="Aptos"/>
              </a:rPr>
              <a:t>25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828800" y="4229099"/>
            <a:ext cx="4617720" cy="0"/>
          </a:xfrm>
          <a:prstGeom prst="line">
            <a:avLst/>
          </a:prstGeom>
          <a:ln w="7620">
            <a:solidFill>
              <a:srgbClr val="E6EB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572768" y="4165091"/>
            <a:ext cx="182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607089"/>
                </a:solidFill>
                <a:latin typeface="Aptos"/>
              </a:rPr>
              <a:t>50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828800" y="3851909"/>
            <a:ext cx="4617720" cy="0"/>
          </a:xfrm>
          <a:prstGeom prst="line">
            <a:avLst/>
          </a:prstGeom>
          <a:ln w="7620">
            <a:solidFill>
              <a:srgbClr val="E6EB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572768" y="3787901"/>
            <a:ext cx="182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607089"/>
                </a:solidFill>
                <a:latin typeface="Aptos"/>
              </a:rPr>
              <a:t>75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828800" y="3474719"/>
            <a:ext cx="4617720" cy="0"/>
          </a:xfrm>
          <a:prstGeom prst="line">
            <a:avLst/>
          </a:prstGeom>
          <a:ln w="7620">
            <a:solidFill>
              <a:srgbClr val="E6EB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572768" y="3410711"/>
            <a:ext cx="182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607089"/>
                </a:solidFill>
                <a:latin typeface="Aptos"/>
              </a:rPr>
              <a:t>100</a:t>
            </a:r>
          </a:p>
        </p:txBody>
      </p:sp>
      <p:sp>
        <p:nvSpPr>
          <p:cNvPr id="82" name="Oval 81"/>
          <p:cNvSpPr/>
          <p:nvPr/>
        </p:nvSpPr>
        <p:spPr>
          <a:xfrm>
            <a:off x="1796796" y="4830775"/>
            <a:ext cx="64008" cy="64008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720339" y="4785512"/>
            <a:ext cx="64008" cy="64008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3643883" y="4800600"/>
            <a:ext cx="64008" cy="64008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4567427" y="4725162"/>
            <a:ext cx="64008" cy="64008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5490972" y="4694986"/>
            <a:ext cx="64008" cy="64008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6414516" y="4634636"/>
            <a:ext cx="64008" cy="64008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8" name="Connector 87"/>
          <p:cNvCxnSpPr/>
          <p:nvPr/>
        </p:nvCxnSpPr>
        <p:spPr>
          <a:xfrm flipV="1">
            <a:off x="1828800" y="4817516"/>
            <a:ext cx="923544" cy="45263"/>
          </a:xfrm>
          <a:prstGeom prst="line">
            <a:avLst/>
          </a:prstGeom>
          <a:ln w="25400">
            <a:solidFill>
              <a:srgbClr val="266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752344" y="4817516"/>
            <a:ext cx="923543" cy="15088"/>
          </a:xfrm>
          <a:prstGeom prst="line">
            <a:avLst/>
          </a:prstGeom>
          <a:ln w="25400">
            <a:solidFill>
              <a:srgbClr val="266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675887" y="4757166"/>
            <a:ext cx="923544" cy="75438"/>
          </a:xfrm>
          <a:prstGeom prst="line">
            <a:avLst/>
          </a:prstGeom>
          <a:ln w="25400">
            <a:solidFill>
              <a:srgbClr val="266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4599431" y="4726990"/>
            <a:ext cx="923545" cy="30176"/>
          </a:xfrm>
          <a:prstGeom prst="line">
            <a:avLst/>
          </a:prstGeom>
          <a:ln w="25400">
            <a:solidFill>
              <a:srgbClr val="266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5522976" y="4666640"/>
            <a:ext cx="923544" cy="60350"/>
          </a:xfrm>
          <a:prstGeom prst="line">
            <a:avLst/>
          </a:prstGeom>
          <a:ln w="25400">
            <a:solidFill>
              <a:srgbClr val="266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1796796" y="4016044"/>
            <a:ext cx="64008" cy="64008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2720339" y="3880256"/>
            <a:ext cx="64008" cy="64008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3643883" y="3804818"/>
            <a:ext cx="64008" cy="64008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4567427" y="3684117"/>
            <a:ext cx="64008" cy="64008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5490972" y="3593591"/>
            <a:ext cx="64008" cy="64008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6414516" y="3548329"/>
            <a:ext cx="64008" cy="64008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9" name="Connector 98"/>
          <p:cNvCxnSpPr/>
          <p:nvPr/>
        </p:nvCxnSpPr>
        <p:spPr>
          <a:xfrm flipV="1">
            <a:off x="1828800" y="3912260"/>
            <a:ext cx="923544" cy="135788"/>
          </a:xfrm>
          <a:prstGeom prst="line">
            <a:avLst/>
          </a:prstGeom>
          <a:ln w="25400">
            <a:solidFill>
              <a:srgbClr val="14C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2752344" y="3836822"/>
            <a:ext cx="923543" cy="75438"/>
          </a:xfrm>
          <a:prstGeom prst="line">
            <a:avLst/>
          </a:prstGeom>
          <a:ln w="25400">
            <a:solidFill>
              <a:srgbClr val="14C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675887" y="3716121"/>
            <a:ext cx="923544" cy="120701"/>
          </a:xfrm>
          <a:prstGeom prst="line">
            <a:avLst/>
          </a:prstGeom>
          <a:ln w="25400">
            <a:solidFill>
              <a:srgbClr val="14C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4599431" y="3625596"/>
            <a:ext cx="923545" cy="90525"/>
          </a:xfrm>
          <a:prstGeom prst="line">
            <a:avLst/>
          </a:prstGeom>
          <a:ln w="25400">
            <a:solidFill>
              <a:srgbClr val="14C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522976" y="3580333"/>
            <a:ext cx="923544" cy="45263"/>
          </a:xfrm>
          <a:prstGeom prst="line">
            <a:avLst/>
          </a:prstGeom>
          <a:ln w="25400">
            <a:solidFill>
              <a:srgbClr val="14C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1719072" y="5148071"/>
            <a:ext cx="228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607089"/>
                </a:solidFill>
                <a:latin typeface="Aptos"/>
              </a:rPr>
              <a:t>S1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642615" y="5148071"/>
            <a:ext cx="228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607089"/>
                </a:solidFill>
                <a:latin typeface="Aptos"/>
              </a:rPr>
              <a:t>S2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566159" y="5148071"/>
            <a:ext cx="228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607089"/>
                </a:solidFill>
                <a:latin typeface="Aptos"/>
              </a:rPr>
              <a:t>S3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489703" y="5148071"/>
            <a:ext cx="228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607089"/>
                </a:solidFill>
                <a:latin typeface="Aptos"/>
              </a:rPr>
              <a:t>S4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13248" y="5148071"/>
            <a:ext cx="228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607089"/>
                </a:solidFill>
                <a:latin typeface="Aptos"/>
              </a:rPr>
              <a:t>S5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36792" y="5148071"/>
            <a:ext cx="228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607089"/>
                </a:solidFill>
                <a:latin typeface="Aptos"/>
              </a:rPr>
              <a:t>S6</a:t>
            </a:r>
          </a:p>
        </p:txBody>
      </p:sp>
      <p:sp>
        <p:nvSpPr>
          <p:cNvPr id="110" name="Oval 109"/>
          <p:cNvSpPr/>
          <p:nvPr/>
        </p:nvSpPr>
        <p:spPr>
          <a:xfrm>
            <a:off x="1920240" y="5285232"/>
            <a:ext cx="73152" cy="73152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029968" y="5257800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Deals priorizados</a:t>
            </a:r>
          </a:p>
        </p:txBody>
      </p:sp>
      <p:sp>
        <p:nvSpPr>
          <p:cNvPr id="112" name="Oval 111"/>
          <p:cNvSpPr/>
          <p:nvPr/>
        </p:nvSpPr>
        <p:spPr>
          <a:xfrm>
            <a:off x="3429000" y="5285232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3538728" y="5257800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Follow-up no prazo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178040" y="2606040"/>
            <a:ext cx="4553712" cy="1353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7406640" y="283464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Próximas melhores ações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06640" y="3063240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607089"/>
                </a:solidFill>
                <a:latin typeface="Aptos"/>
              </a:rPr>
              <a:t>IA sugerindo o próximo passo comercial</a:t>
            </a:r>
          </a:p>
        </p:txBody>
      </p:sp>
      <p:sp>
        <p:nvSpPr>
          <p:cNvPr id="117" name="Oval 116"/>
          <p:cNvSpPr/>
          <p:nvPr/>
        </p:nvSpPr>
        <p:spPr>
          <a:xfrm>
            <a:off x="7424927" y="3328416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7571231" y="327355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21F37"/>
                </a:solidFill>
                <a:latin typeface="Aptos"/>
              </a:rPr>
              <a:t>Agendar demo técnica com foco em inventário e rastreabilidade.</a:t>
            </a:r>
          </a:p>
        </p:txBody>
      </p:sp>
      <p:sp>
        <p:nvSpPr>
          <p:cNvPr id="119" name="Oval 118"/>
          <p:cNvSpPr/>
          <p:nvPr/>
        </p:nvSpPr>
        <p:spPr>
          <a:xfrm>
            <a:off x="7424927" y="3602736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571231" y="354787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21F37"/>
                </a:solidFill>
                <a:latin typeface="Aptos"/>
              </a:rPr>
              <a:t>Enviar follow-up com resumo executivo em até 30 min.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178040" y="4160520"/>
            <a:ext cx="455371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379208" y="418795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 dirty="0">
                <a:solidFill>
                  <a:srgbClr val="121F37"/>
                </a:solidFill>
                <a:latin typeface="Aptos"/>
              </a:rPr>
              <a:t>Deals </a:t>
            </a:r>
            <a:r>
              <a:rPr sz="1340" b="1" i="0" dirty="0" err="1">
                <a:solidFill>
                  <a:srgbClr val="121F37"/>
                </a:solidFill>
                <a:latin typeface="Aptos"/>
              </a:rPr>
              <a:t>prioritários</a:t>
            </a:r>
            <a:endParaRPr sz="1340" b="1" i="0" dirty="0">
              <a:solidFill>
                <a:srgbClr val="121F37"/>
              </a:solidFill>
              <a:latin typeface="Aptos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7379208" y="4377689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 dirty="0" err="1">
                <a:solidFill>
                  <a:srgbClr val="607089"/>
                </a:solidFill>
                <a:latin typeface="Aptos"/>
              </a:rPr>
              <a:t>Oportunidades</a:t>
            </a:r>
            <a:r>
              <a:rPr sz="940" b="0" i="0" dirty="0">
                <a:solidFill>
                  <a:srgbClr val="607089"/>
                </a:solidFill>
                <a:latin typeface="Aptos"/>
              </a:rPr>
              <a:t> </a:t>
            </a:r>
            <a:r>
              <a:rPr sz="940" b="0" i="0" dirty="0" err="1">
                <a:solidFill>
                  <a:srgbClr val="607089"/>
                </a:solidFill>
                <a:latin typeface="Aptos"/>
              </a:rPr>
              <a:t>que</a:t>
            </a:r>
            <a:r>
              <a:rPr sz="940" b="0" i="0" dirty="0">
                <a:solidFill>
                  <a:srgbClr val="607089"/>
                </a:solidFill>
                <a:latin typeface="Aptos"/>
              </a:rPr>
              <a:t> </a:t>
            </a:r>
            <a:r>
              <a:rPr sz="940" b="0" i="0" dirty="0" err="1">
                <a:solidFill>
                  <a:srgbClr val="607089"/>
                </a:solidFill>
                <a:latin typeface="Aptos"/>
              </a:rPr>
              <a:t>exigem</a:t>
            </a:r>
            <a:r>
              <a:rPr sz="940" b="0" i="0" dirty="0">
                <a:solidFill>
                  <a:srgbClr val="607089"/>
                </a:solidFill>
                <a:latin typeface="Aptos"/>
              </a:rPr>
              <a:t> </a:t>
            </a:r>
            <a:r>
              <a:rPr sz="940" b="0" i="0" dirty="0" err="1">
                <a:solidFill>
                  <a:srgbClr val="607089"/>
                </a:solidFill>
                <a:latin typeface="Aptos"/>
              </a:rPr>
              <a:t>ação</a:t>
            </a:r>
            <a:r>
              <a:rPr sz="940" b="0" i="0" dirty="0">
                <a:solidFill>
                  <a:srgbClr val="607089"/>
                </a:solidFill>
                <a:latin typeface="Aptos"/>
              </a:rPr>
              <a:t> agora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24927" y="4579772"/>
            <a:ext cx="10058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 dirty="0">
                <a:solidFill>
                  <a:srgbClr val="607089"/>
                </a:solidFill>
                <a:latin typeface="Aptos"/>
              </a:rPr>
              <a:t>Conta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659368" y="4579772"/>
            <a:ext cx="5029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 dirty="0">
                <a:solidFill>
                  <a:srgbClr val="607089"/>
                </a:solidFill>
                <a:latin typeface="Aptos"/>
              </a:rPr>
              <a:t>Score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372600" y="4579772"/>
            <a:ext cx="15544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 dirty="0" err="1">
                <a:solidFill>
                  <a:srgbClr val="607089"/>
                </a:solidFill>
                <a:latin typeface="Aptos"/>
              </a:rPr>
              <a:t>Próximo</a:t>
            </a:r>
            <a:r>
              <a:rPr sz="880" b="1" i="0" dirty="0">
                <a:solidFill>
                  <a:srgbClr val="607089"/>
                </a:solidFill>
                <a:latin typeface="Aptos"/>
              </a:rPr>
              <a:t> </a:t>
            </a:r>
            <a:r>
              <a:rPr sz="880" b="1" i="0" dirty="0" err="1">
                <a:solidFill>
                  <a:srgbClr val="607089"/>
                </a:solidFill>
                <a:latin typeface="Aptos"/>
              </a:rPr>
              <a:t>passo</a:t>
            </a:r>
            <a:endParaRPr sz="880" b="1" i="0" dirty="0">
              <a:solidFill>
                <a:srgbClr val="607089"/>
              </a:solidFill>
              <a:latin typeface="Aptos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424927" y="4780940"/>
            <a:ext cx="10058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 dirty="0">
                <a:solidFill>
                  <a:srgbClr val="121F37"/>
                </a:solidFill>
                <a:latin typeface="Aptos"/>
              </a:rPr>
              <a:t>Diniz Foods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590788" y="4712360"/>
            <a:ext cx="434340" cy="246888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8613648" y="4762652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14CD78"/>
                </a:solidFill>
                <a:latin typeface="Aptos"/>
              </a:rPr>
              <a:t>82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372600" y="4780940"/>
            <a:ext cx="1371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Demo WMS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424927" y="5029199"/>
            <a:ext cx="10058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 dirty="0">
                <a:solidFill>
                  <a:srgbClr val="121F37"/>
                </a:solidFill>
                <a:latin typeface="Aptos"/>
              </a:rPr>
              <a:t>Conta Beta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590788" y="4960619"/>
            <a:ext cx="434340" cy="246888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8613648" y="5010911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 dirty="0">
                <a:solidFill>
                  <a:srgbClr val="2663FF"/>
                </a:solidFill>
                <a:latin typeface="Aptos"/>
              </a:rPr>
              <a:t>76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372600" y="5029199"/>
            <a:ext cx="1371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Follow-up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424927" y="5266944"/>
            <a:ext cx="10058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 dirty="0">
                <a:solidFill>
                  <a:srgbClr val="121F37"/>
                </a:solidFill>
                <a:latin typeface="Aptos"/>
              </a:rPr>
              <a:t>Conta Gama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590788" y="5198364"/>
            <a:ext cx="434340" cy="246888"/>
          </a:xfrm>
          <a:prstGeom prst="roundRect">
            <a:avLst>
              <a:gd name="adj" fmla="val 12000"/>
            </a:avLst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8613648" y="5248656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 dirty="0">
                <a:solidFill>
                  <a:srgbClr val="FFA825"/>
                </a:solidFill>
                <a:latin typeface="Aptos"/>
              </a:rPr>
              <a:t>69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372600" y="5266944"/>
            <a:ext cx="1371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Validar budget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481328" y="5897880"/>
            <a:ext cx="10250424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719072" y="6016752"/>
            <a:ext cx="7498079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21F37"/>
                </a:solidFill>
                <a:latin typeface="Aptos"/>
              </a:rPr>
              <a:t>Cada reunião precisa sair com dono, prazo, prioridade e ação — não apenas com anotações.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0195560" y="5934456"/>
            <a:ext cx="1325880" cy="384048"/>
          </a:xfrm>
          <a:prstGeom prst="roundRect">
            <a:avLst>
              <a:gd name="adj" fmla="val 12000"/>
            </a:avLst>
          </a:prstGeom>
          <a:solidFill>
            <a:srgbClr val="2663FF"/>
          </a:solidFill>
          <a:ln w="12700">
            <a:solidFill>
              <a:srgbClr val="26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195560" y="6035040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Atualizar CRM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34440" cy="6858000"/>
          </a:xfrm>
          <a:prstGeom prst="rect">
            <a:avLst/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(4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201168"/>
            <a:ext cx="932688" cy="1616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86868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Aptos"/>
              </a:rPr>
              <a:t>Revenue
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162763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56032" y="176479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" y="180136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77393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Cockpit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" y="222199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122755"/>
          </a:solidFill>
          <a:ln w="12700">
            <a:solidFill>
              <a:srgbClr val="122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7160" y="2221992"/>
            <a:ext cx="45720" cy="475488"/>
          </a:xfrm>
          <a:prstGeom prst="rect">
            <a:avLst/>
          </a:prstGeom>
          <a:solidFill>
            <a:srgbClr val="14CD78"/>
          </a:solidFill>
          <a:ln w="12700">
            <a:solidFill>
              <a:srgbClr val="14C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56032" y="2359152"/>
            <a:ext cx="182880" cy="182880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" y="239572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236829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>
                <a:solidFill>
                  <a:srgbClr val="C2CCE0"/>
                </a:solidFill>
              </a:rPr>
              <a:t>Meet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" y="281635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56032" y="295351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6032" y="299008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296265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CRM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" y="341071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56032" y="354787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358444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355701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Health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" y="400507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56032" y="414223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6032" y="417880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415137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Desk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" y="459943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56032" y="473659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032" y="477316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474573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ROI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" y="6236208"/>
            <a:ext cx="896112" cy="310896"/>
          </a:xfrm>
          <a:prstGeom prst="roundRect">
            <a:avLst>
              <a:gd name="adj" fmla="val 12000"/>
            </a:avLst>
          </a:prstGeom>
          <a:solidFill>
            <a:srgbClr val="122755"/>
          </a:solidFill>
          <a:ln w="12700">
            <a:solidFill>
              <a:srgbClr val="122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4592" y="6300216"/>
            <a:ext cx="89611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Aptos"/>
              </a:rPr>
              <a:t>IA </a:t>
            </a:r>
            <a:r>
              <a:rPr sz="1050" b="1" i="0" dirty="0">
                <a:solidFill>
                  <a:srgbClr val="00B050"/>
                </a:solidFill>
                <a:latin typeface="Aptos"/>
              </a:rPr>
              <a:t>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347472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21F37"/>
                </a:solidFill>
                <a:latin typeface="Aptos"/>
              </a:rPr>
              <a:t>Meeting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749808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07089"/>
                </a:solidFill>
                <a:latin typeface="Aptos"/>
              </a:rPr>
              <a:t>Converte uma reunião gravada em inteligência comercial utilizável.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12680" y="292608"/>
            <a:ext cx="1719072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95560" y="411480"/>
            <a:ext cx="11430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07089"/>
                </a:solidFill>
                <a:latin typeface="Aptos"/>
              </a:rPr>
              <a:t>Buscar insight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12680" y="786384"/>
            <a:ext cx="1719072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168128" y="896112"/>
            <a:ext cx="201168" cy="201168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68128" y="941832"/>
            <a:ext cx="201168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1592" y="877824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121F37"/>
                </a:solidFill>
                <a:latin typeface="Aptos"/>
              </a:rPr>
              <a:t>Silas Olanda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51592" y="1024128"/>
            <a:ext cx="10058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607089"/>
                </a:solidFill>
                <a:latin typeface="Aptos"/>
              </a:rPr>
              <a:t>Hackathon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81328" y="1353312"/>
            <a:ext cx="4919472" cy="4956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719072" y="160020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Transcrição da reunião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19072" y="1828800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607089"/>
                </a:solidFill>
                <a:latin typeface="Aptos"/>
              </a:rPr>
              <a:t>Entrada via Microsoft Teams ou upload manual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32120" y="1591056"/>
            <a:ext cx="594360" cy="246888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32120" y="1641348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2663FF"/>
                </a:solidFill>
                <a:latin typeface="Aptos"/>
              </a:rPr>
              <a:t>62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19072" y="2148840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21F37"/>
                </a:solidFill>
                <a:latin typeface="Aptos"/>
              </a:rPr>
              <a:t>“Nosso maior desafio é inventário, acuracidade e rastreabilidade. Precisamos organizar o básico, dar visibilidade e gerar ação rápida para a equipe.”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719072" y="3063240"/>
            <a:ext cx="1234440" cy="246888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719072" y="3113532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14CD78"/>
                </a:solidFill>
                <a:latin typeface="Aptos"/>
              </a:rPr>
              <a:t>Dor: inventário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63240" y="3063240"/>
            <a:ext cx="1024128" cy="246888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063240" y="3113532"/>
            <a:ext cx="10241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2663FF"/>
                </a:solidFill>
                <a:latin typeface="Aptos"/>
              </a:rPr>
              <a:t>ERP: Sankhya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06240" y="3063240"/>
            <a:ext cx="1234440" cy="246888"/>
          </a:xfrm>
          <a:prstGeom prst="roundRect">
            <a:avLst>
              <a:gd name="adj" fmla="val 12000"/>
            </a:avLst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06240" y="3113532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FFA825"/>
                </a:solidFill>
                <a:latin typeface="Aptos"/>
              </a:rPr>
              <a:t>Prioridade alta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19072" y="3703320"/>
            <a:ext cx="4443984" cy="2121408"/>
          </a:xfrm>
          <a:prstGeom prst="roundRect">
            <a:avLst>
              <a:gd name="adj" fmla="val 12000"/>
            </a:avLst>
          </a:prstGeom>
          <a:solidFill>
            <a:srgbClr val="FAFC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938528" y="39319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Resumo executivo</a:t>
            </a:r>
          </a:p>
        </p:txBody>
      </p:sp>
      <p:sp>
        <p:nvSpPr>
          <p:cNvPr id="55" name="Oval 54"/>
          <p:cNvSpPr/>
          <p:nvPr/>
        </p:nvSpPr>
        <p:spPr>
          <a:xfrm>
            <a:off x="1956816" y="4425696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103120" y="4370832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121F37"/>
                </a:solidFill>
                <a:latin typeface="Aptos"/>
              </a:rPr>
              <a:t>Projeto é prioridade estratégica e já possui aval interno.</a:t>
            </a:r>
          </a:p>
        </p:txBody>
      </p:sp>
      <p:sp>
        <p:nvSpPr>
          <p:cNvPr id="57" name="Oval 56"/>
          <p:cNvSpPr/>
          <p:nvPr/>
        </p:nvSpPr>
        <p:spPr>
          <a:xfrm>
            <a:off x="1956816" y="4846320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103120" y="4791456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121F37"/>
                </a:solidFill>
                <a:latin typeface="Aptos"/>
              </a:rPr>
              <a:t>Acuracidade atual não sustenta a maturidade desejada.</a:t>
            </a:r>
          </a:p>
        </p:txBody>
      </p:sp>
      <p:sp>
        <p:nvSpPr>
          <p:cNvPr id="59" name="Oval 58"/>
          <p:cNvSpPr/>
          <p:nvPr/>
        </p:nvSpPr>
        <p:spPr>
          <a:xfrm>
            <a:off x="1956816" y="5266944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103120" y="521208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121F37"/>
                </a:solidFill>
                <a:latin typeface="Aptos"/>
              </a:rPr>
              <a:t>Próximo passo: demonstração direcionada de WMS.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29400" y="1353312"/>
            <a:ext cx="510235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858000" y="160020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Diagnóstico automático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0" y="1828800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607089"/>
                </a:solidFill>
                <a:latin typeface="Aptos"/>
              </a:rPr>
              <a:t>A IA destaca o que realmente importa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2057400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121F37"/>
                </a:solidFill>
                <a:latin typeface="Aptos"/>
              </a:rPr>
              <a:t>A ferramenta não resume apenas a reunião: transforma conversa em prioridade, contexto e ação executável.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629400" y="2907792"/>
            <a:ext cx="24231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58000" y="315468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BANT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3547872"/>
            <a:ext cx="685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607089"/>
                </a:solidFill>
                <a:latin typeface="Aptos"/>
              </a:rPr>
              <a:t>Budget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07808" y="3547872"/>
            <a:ext cx="11430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21F37"/>
                </a:solidFill>
                <a:latin typeface="Aptos"/>
              </a:rPr>
              <a:t>Em avaliação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3858768"/>
            <a:ext cx="685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607089"/>
                </a:solidFill>
                <a:latin typeface="Aptos"/>
              </a:rPr>
              <a:t>Authority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07808" y="3858768"/>
            <a:ext cx="11430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21F37"/>
                </a:solidFill>
                <a:latin typeface="Aptos"/>
              </a:rPr>
              <a:t>Logística + diretoria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0" y="4169663"/>
            <a:ext cx="685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607089"/>
                </a:solidFill>
                <a:latin typeface="Aptos"/>
              </a:rPr>
              <a:t>Need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07808" y="4169663"/>
            <a:ext cx="11430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21F37"/>
                </a:solidFill>
                <a:latin typeface="Aptos"/>
              </a:rPr>
              <a:t>Alta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0" y="4480560"/>
            <a:ext cx="685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607089"/>
                </a:solidFill>
                <a:latin typeface="Aptos"/>
              </a:rPr>
              <a:t>Timing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07808" y="4480560"/>
            <a:ext cx="11430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21F37"/>
                </a:solidFill>
                <a:latin typeface="Aptos"/>
              </a:rPr>
              <a:t>Sem prazo formal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308592" y="2907792"/>
            <a:ext cx="24231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537192" y="315468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SPIN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537192" y="3511296"/>
            <a:ext cx="256032" cy="246888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537192" y="3561588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2663FF"/>
                </a:solidFill>
                <a:latin typeface="Aptos"/>
              </a:rPr>
              <a:t>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93808" y="3547872"/>
            <a:ext cx="14173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21F37"/>
                </a:solidFill>
                <a:latin typeface="Aptos"/>
              </a:rPr>
              <a:t>Volume alto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537192" y="3822191"/>
            <a:ext cx="256032" cy="246888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537192" y="3872483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2663FF"/>
                </a:solidFill>
                <a:latin typeface="Aptos"/>
              </a:rPr>
              <a:t>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93808" y="3858768"/>
            <a:ext cx="14173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21F37"/>
                </a:solidFill>
                <a:latin typeface="Aptos"/>
              </a:rPr>
              <a:t>Inventário manual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537192" y="4133087"/>
            <a:ext cx="256032" cy="246888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537192" y="4183379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2663FF"/>
                </a:solidFill>
                <a:latin typeface="Aptos"/>
              </a:rPr>
              <a:t>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93808" y="4169663"/>
            <a:ext cx="14173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21F37"/>
                </a:solidFill>
                <a:latin typeface="Aptos"/>
              </a:rPr>
              <a:t>Baixa confiança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537192" y="4443984"/>
            <a:ext cx="256032" cy="246888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537192" y="4494276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2663FF"/>
                </a:solidFill>
                <a:latin typeface="Aptos"/>
              </a:rPr>
              <a:t>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93808" y="4480560"/>
            <a:ext cx="14173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21F37"/>
                </a:solidFill>
                <a:latin typeface="Aptos"/>
              </a:rPr>
              <a:t>Controle em tempo real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629400" y="5102352"/>
            <a:ext cx="5102352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858000" y="532180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Ações sugeridas</a:t>
            </a:r>
          </a:p>
        </p:txBody>
      </p:sp>
      <p:sp>
        <p:nvSpPr>
          <p:cNvPr id="91" name="Oval 90"/>
          <p:cNvSpPr/>
          <p:nvPr/>
        </p:nvSpPr>
        <p:spPr>
          <a:xfrm>
            <a:off x="6876288" y="5733288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022592" y="567842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121F37"/>
                </a:solidFill>
                <a:latin typeface="Aptos"/>
              </a:rPr>
              <a:t>Gerar registro de CRM</a:t>
            </a:r>
          </a:p>
        </p:txBody>
      </p:sp>
      <p:sp>
        <p:nvSpPr>
          <p:cNvPr id="93" name="Oval 92"/>
          <p:cNvSpPr/>
          <p:nvPr/>
        </p:nvSpPr>
        <p:spPr>
          <a:xfrm>
            <a:off x="6876288" y="5998464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022592" y="5943600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121F37"/>
                </a:solidFill>
                <a:latin typeface="Aptos"/>
              </a:rPr>
              <a:t>Criar follow-up e escalar impedimentos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464040" y="5687568"/>
            <a:ext cx="868680" cy="384048"/>
          </a:xfrm>
          <a:prstGeom prst="roundRect">
            <a:avLst>
              <a:gd name="adj" fmla="val 12000"/>
            </a:avLst>
          </a:prstGeom>
          <a:solidFill>
            <a:srgbClr val="14CD78"/>
          </a:solidFill>
          <a:ln w="12700">
            <a:solidFill>
              <a:srgbClr val="14C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464040" y="5788152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Analisar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497312" y="5687568"/>
            <a:ext cx="914400" cy="384048"/>
          </a:xfrm>
          <a:prstGeom prst="roundRect">
            <a:avLst>
              <a:gd name="adj" fmla="val 12000"/>
            </a:avLst>
          </a:prstGeom>
          <a:solidFill>
            <a:srgbClr val="2663FF"/>
          </a:solidFill>
          <a:ln w="12700">
            <a:solidFill>
              <a:srgbClr val="26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497312" y="5788152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Enviar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34440" cy="6858000"/>
          </a:xfrm>
          <a:prstGeom prst="rect">
            <a:avLst/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(4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201168"/>
            <a:ext cx="932688" cy="1616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86868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Aptos"/>
              </a:rPr>
              <a:t>Revenue
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162763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56032" y="176479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" y="180136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77393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Cockpit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" y="222199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56032" y="235915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" y="239572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236829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>
                <a:solidFill>
                  <a:srgbClr val="C2CCE0"/>
                </a:solidFill>
              </a:rPr>
              <a:t>Meet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" y="281635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122755"/>
          </a:solidFill>
          <a:ln w="12700">
            <a:solidFill>
              <a:srgbClr val="122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7160" y="2816352"/>
            <a:ext cx="45720" cy="475488"/>
          </a:xfrm>
          <a:prstGeom prst="rect">
            <a:avLst/>
          </a:prstGeom>
          <a:solidFill>
            <a:srgbClr val="14CD78"/>
          </a:solidFill>
          <a:ln w="12700">
            <a:solidFill>
              <a:srgbClr val="14C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56032" y="2953512"/>
            <a:ext cx="182880" cy="182880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6032" y="299008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296265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Aptos"/>
              </a:rPr>
              <a:t>CRM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" y="341071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56032" y="354787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358444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355701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Health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" y="400507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56032" y="414223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6032" y="417880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415137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Desk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" y="459943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56032" y="473659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032" y="477316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474573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ROI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" y="6236208"/>
            <a:ext cx="896112" cy="310896"/>
          </a:xfrm>
          <a:prstGeom prst="roundRect">
            <a:avLst>
              <a:gd name="adj" fmla="val 12000"/>
            </a:avLst>
          </a:prstGeom>
          <a:solidFill>
            <a:srgbClr val="122755"/>
          </a:solidFill>
          <a:ln w="12700">
            <a:solidFill>
              <a:srgbClr val="122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4592" y="6300216"/>
            <a:ext cx="89611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Aptos"/>
              </a:rPr>
              <a:t>IA </a:t>
            </a:r>
            <a:r>
              <a:rPr sz="1050" b="1" i="0" dirty="0">
                <a:solidFill>
                  <a:srgbClr val="00B050"/>
                </a:solidFill>
                <a:latin typeface="Aptos"/>
              </a:rPr>
              <a:t>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347472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21F37"/>
                </a:solidFill>
                <a:latin typeface="Aptos"/>
              </a:rPr>
              <a:t>CRM Intelligence | Pipedrive Sync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749808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07089"/>
                </a:solidFill>
                <a:latin typeface="Aptos"/>
              </a:rPr>
              <a:t>Registro limpo, padronizado e pronto para execução comercial.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12680" y="292608"/>
            <a:ext cx="1719072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95560" y="411480"/>
            <a:ext cx="11430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07089"/>
                </a:solidFill>
                <a:latin typeface="Aptos"/>
              </a:rPr>
              <a:t>Buscar insight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12680" y="786384"/>
            <a:ext cx="1719072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168128" y="896112"/>
            <a:ext cx="201168" cy="201168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68128" y="941832"/>
            <a:ext cx="201168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1592" y="877824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121F37"/>
                </a:solidFill>
                <a:latin typeface="Aptos"/>
              </a:rPr>
              <a:t>Silas Olanda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51592" y="1024128"/>
            <a:ext cx="10058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607089"/>
                </a:solidFill>
                <a:latin typeface="Aptos"/>
              </a:rPr>
              <a:t>Hackathon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81328" y="1353312"/>
            <a:ext cx="5486400" cy="4956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719072" y="160020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Preview do registro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19072" y="1828800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607089"/>
                </a:solidFill>
                <a:latin typeface="Aptos"/>
              </a:rPr>
              <a:t>O que a IA grava no CRM sem ruído e sem retrabalho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19072" y="214884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>
                <a:solidFill>
                  <a:srgbClr val="607089"/>
                </a:solidFill>
                <a:latin typeface="Aptos"/>
              </a:rPr>
              <a:t>Organização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0" y="2075688"/>
            <a:ext cx="3886200" cy="292608"/>
          </a:xfrm>
          <a:prstGeom prst="roundRect">
            <a:avLst>
              <a:gd name="adj" fmla="val 12000"/>
            </a:avLst>
          </a:prstGeom>
          <a:solidFill>
            <a:srgbClr val="FAFC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880360" y="2153412"/>
            <a:ext cx="34747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Diniz Foods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19072" y="260604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>
                <a:solidFill>
                  <a:srgbClr val="607089"/>
                </a:solidFill>
                <a:latin typeface="Aptos"/>
              </a:rPr>
              <a:t>Contato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0" y="2532888"/>
            <a:ext cx="3886200" cy="292608"/>
          </a:xfrm>
          <a:prstGeom prst="roundRect">
            <a:avLst>
              <a:gd name="adj" fmla="val 12000"/>
            </a:avLst>
          </a:prstGeom>
          <a:solidFill>
            <a:srgbClr val="FAFC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880360" y="2610612"/>
            <a:ext cx="34747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Carlos Pires | Analista de TI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19072" y="306324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>
                <a:solidFill>
                  <a:srgbClr val="607089"/>
                </a:solidFill>
                <a:latin typeface="Aptos"/>
              </a:rPr>
              <a:t>Negócio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0" y="2990088"/>
            <a:ext cx="3886200" cy="292608"/>
          </a:xfrm>
          <a:prstGeom prst="roundRect">
            <a:avLst>
              <a:gd name="adj" fmla="val 12000"/>
            </a:avLst>
          </a:prstGeom>
          <a:solidFill>
            <a:srgbClr val="FAFC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880360" y="3067812"/>
            <a:ext cx="34747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WMS | Inventário e rastreabilidade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19072" y="352044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>
                <a:solidFill>
                  <a:srgbClr val="607089"/>
                </a:solidFill>
                <a:latin typeface="Aptos"/>
              </a:rPr>
              <a:t>Status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0" y="3447288"/>
            <a:ext cx="3886200" cy="292608"/>
          </a:xfrm>
          <a:prstGeom prst="roundRect">
            <a:avLst>
              <a:gd name="adj" fmla="val 12000"/>
            </a:avLst>
          </a:prstGeom>
          <a:solidFill>
            <a:srgbClr val="FAFC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880360" y="3525012"/>
            <a:ext cx="34747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Oportunidade qualificada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19072" y="4005072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 i="0">
                <a:solidFill>
                  <a:srgbClr val="607089"/>
                </a:solidFill>
                <a:latin typeface="Aptos"/>
              </a:rPr>
              <a:t>Nota do CRM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719072" y="4279392"/>
            <a:ext cx="4919472" cy="1417320"/>
          </a:xfrm>
          <a:prstGeom prst="roundRect">
            <a:avLst>
              <a:gd name="adj" fmla="val 12000"/>
            </a:avLst>
          </a:prstGeom>
          <a:solidFill>
            <a:srgbClr val="FAFC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901952" y="4462272"/>
            <a:ext cx="4526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>
                <a:solidFill>
                  <a:srgbClr val="121F37"/>
                </a:solidFill>
                <a:latin typeface="Aptos"/>
              </a:rPr>
              <a:t>Cliente com alta aderência ao WMS. Dor central em inventário manual, baixa acuracidade, etiqueta palete e rastreabilidade. Próximo passo: demonstração direcionada com foco em controle de estoque e integração Sankhya.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223760" y="1353312"/>
            <a:ext cx="4507992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452360" y="159105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Sincronização inteligente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52360" y="1819656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607089"/>
                </a:solidFill>
                <a:latin typeface="Aptos"/>
              </a:rPr>
              <a:t>Negócio, nota, atividade e campos prontos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52360" y="2029968"/>
            <a:ext cx="5943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07089"/>
                </a:solidFill>
                <a:latin typeface="Aptos"/>
              </a:rPr>
              <a:t>Deal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52360" y="2194560"/>
            <a:ext cx="685800" cy="246888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452360" y="2244852"/>
            <a:ext cx="685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14CD78"/>
                </a:solidFill>
                <a:latin typeface="Aptos"/>
              </a:rPr>
              <a:t>Pronto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58200" y="2029968"/>
            <a:ext cx="5943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07089"/>
                </a:solidFill>
                <a:latin typeface="Aptos"/>
              </a:rPr>
              <a:t>Nota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58200" y="2194560"/>
            <a:ext cx="685800" cy="246888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458200" y="2244852"/>
            <a:ext cx="685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14CD78"/>
                </a:solidFill>
                <a:latin typeface="Aptos"/>
              </a:rPr>
              <a:t>Pronto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64040" y="2029968"/>
            <a:ext cx="5943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07089"/>
                </a:solidFill>
                <a:latin typeface="Aptos"/>
              </a:rPr>
              <a:t>Atividade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464040" y="2194560"/>
            <a:ext cx="685800" cy="246888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464040" y="2244852"/>
            <a:ext cx="685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14CD78"/>
                </a:solidFill>
                <a:latin typeface="Aptos"/>
              </a:rPr>
              <a:t>Pronto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69880" y="2029968"/>
            <a:ext cx="5943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07089"/>
                </a:solidFill>
                <a:latin typeface="Aptos"/>
              </a:rPr>
              <a:t>Campos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469880" y="2194560"/>
            <a:ext cx="685800" cy="246888"/>
          </a:xfrm>
          <a:prstGeom prst="roundRect">
            <a:avLst>
              <a:gd name="adj" fmla="val 12000"/>
            </a:avLst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469880" y="2244852"/>
            <a:ext cx="685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FFA825"/>
                </a:solidFill>
                <a:latin typeface="Aptos"/>
              </a:rPr>
              <a:t>Validar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23760" y="2816352"/>
            <a:ext cx="214884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452360" y="30632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Produtos aderentes</a:t>
            </a:r>
          </a:p>
        </p:txBody>
      </p:sp>
      <p:sp>
        <p:nvSpPr>
          <p:cNvPr id="76" name="Oval 75"/>
          <p:cNvSpPr/>
          <p:nvPr/>
        </p:nvSpPr>
        <p:spPr>
          <a:xfrm>
            <a:off x="7470648" y="3547872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616952" y="3493008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WMS Mobiis</a:t>
            </a:r>
          </a:p>
        </p:txBody>
      </p:sp>
      <p:sp>
        <p:nvSpPr>
          <p:cNvPr id="78" name="Oval 77"/>
          <p:cNvSpPr/>
          <p:nvPr/>
        </p:nvSpPr>
        <p:spPr>
          <a:xfrm>
            <a:off x="7470648" y="3849623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616952" y="3794759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Coletor &amp; inventário</a:t>
            </a:r>
          </a:p>
        </p:txBody>
      </p:sp>
      <p:sp>
        <p:nvSpPr>
          <p:cNvPr id="80" name="Oval 79"/>
          <p:cNvSpPr/>
          <p:nvPr/>
        </p:nvSpPr>
        <p:spPr>
          <a:xfrm>
            <a:off x="7470648" y="4151375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616952" y="4096511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Integração ERP</a:t>
            </a:r>
          </a:p>
        </p:txBody>
      </p:sp>
      <p:sp>
        <p:nvSpPr>
          <p:cNvPr id="82" name="Oval 81"/>
          <p:cNvSpPr/>
          <p:nvPr/>
        </p:nvSpPr>
        <p:spPr>
          <a:xfrm>
            <a:off x="7470648" y="4453127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616952" y="4398264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Evolução YMS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582912" y="2816352"/>
            <a:ext cx="214884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811512" y="30632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Próximas atividades</a:t>
            </a:r>
          </a:p>
        </p:txBody>
      </p:sp>
      <p:sp>
        <p:nvSpPr>
          <p:cNvPr id="86" name="Oval 85"/>
          <p:cNvSpPr/>
          <p:nvPr/>
        </p:nvSpPr>
        <p:spPr>
          <a:xfrm>
            <a:off x="9829800" y="3547872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976104" y="3493008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Enviar follow-up</a:t>
            </a:r>
          </a:p>
        </p:txBody>
      </p:sp>
      <p:sp>
        <p:nvSpPr>
          <p:cNvPr id="88" name="Oval 87"/>
          <p:cNvSpPr/>
          <p:nvPr/>
        </p:nvSpPr>
        <p:spPr>
          <a:xfrm>
            <a:off x="9829800" y="3849623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976104" y="3794759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Agendar demo</a:t>
            </a:r>
          </a:p>
        </p:txBody>
      </p:sp>
      <p:sp>
        <p:nvSpPr>
          <p:cNvPr id="90" name="Oval 89"/>
          <p:cNvSpPr/>
          <p:nvPr/>
        </p:nvSpPr>
        <p:spPr>
          <a:xfrm>
            <a:off x="9829800" y="4151375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976104" y="4096511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Mapear integração</a:t>
            </a:r>
          </a:p>
        </p:txBody>
      </p:sp>
      <p:sp>
        <p:nvSpPr>
          <p:cNvPr id="92" name="Oval 91"/>
          <p:cNvSpPr/>
          <p:nvPr/>
        </p:nvSpPr>
        <p:spPr>
          <a:xfrm>
            <a:off x="9829800" y="4453127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976104" y="4398264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Proposta faseada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223760" y="4965192"/>
            <a:ext cx="4507992" cy="1344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452360" y="5175504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Texto contundente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52360" y="5532120"/>
            <a:ext cx="2880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21F37"/>
                </a:solidFill>
                <a:latin typeface="Aptos"/>
              </a:rPr>
              <a:t>CRM bom não é o que apenas armazena informação. É o que acelera decisão e follow-up.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442448" y="5577840"/>
            <a:ext cx="566928" cy="384048"/>
          </a:xfrm>
          <a:prstGeom prst="roundRect">
            <a:avLst>
              <a:gd name="adj" fmla="val 12000"/>
            </a:avLst>
          </a:prstGeom>
          <a:solidFill>
            <a:srgbClr val="14CD78"/>
          </a:solidFill>
          <a:ln w="12700">
            <a:solidFill>
              <a:srgbClr val="14C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442448" y="567842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Salvar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1091672" y="5577840"/>
            <a:ext cx="502920" cy="384048"/>
          </a:xfrm>
          <a:prstGeom prst="roundRect">
            <a:avLst>
              <a:gd name="adj" fmla="val 12000"/>
            </a:avLst>
          </a:prstGeom>
          <a:solidFill>
            <a:srgbClr val="2663FF"/>
          </a:solidFill>
          <a:ln w="12700">
            <a:solidFill>
              <a:srgbClr val="26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1091672" y="5678424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Editar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34440" cy="6858000"/>
          </a:xfrm>
          <a:prstGeom prst="rect">
            <a:avLst/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(4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201168"/>
            <a:ext cx="932688" cy="1616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86868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Aptos"/>
              </a:rPr>
              <a:t>Revenue
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162763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56032" y="176479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" y="180136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77393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Cockpit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" y="222199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56032" y="235915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" y="239572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236829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>
                <a:solidFill>
                  <a:srgbClr val="C2CCE0"/>
                </a:solidFill>
              </a:rPr>
              <a:t>Meet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" y="281635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56032" y="295351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032" y="299008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96265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CRM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" y="341071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122755"/>
          </a:solidFill>
          <a:ln w="12700">
            <a:solidFill>
              <a:srgbClr val="122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37160" y="3410712"/>
            <a:ext cx="45720" cy="475488"/>
          </a:xfrm>
          <a:prstGeom prst="rect">
            <a:avLst/>
          </a:prstGeom>
          <a:solidFill>
            <a:srgbClr val="14CD78"/>
          </a:solidFill>
          <a:ln w="12700">
            <a:solidFill>
              <a:srgbClr val="14C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56032" y="3547872"/>
            <a:ext cx="182880" cy="182880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358444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355701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Aptos"/>
              </a:rPr>
              <a:t>Health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" y="400507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56032" y="414223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6032" y="417880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415137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Desk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" y="459943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56032" y="473659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032" y="477316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474573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ROI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" y="6236208"/>
            <a:ext cx="896112" cy="310896"/>
          </a:xfrm>
          <a:prstGeom prst="roundRect">
            <a:avLst>
              <a:gd name="adj" fmla="val 12000"/>
            </a:avLst>
          </a:prstGeom>
          <a:solidFill>
            <a:srgbClr val="122755"/>
          </a:solidFill>
          <a:ln w="12700">
            <a:solidFill>
              <a:srgbClr val="122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4592" y="6300216"/>
            <a:ext cx="89611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Aptos"/>
              </a:rPr>
              <a:t>IA </a:t>
            </a:r>
            <a:r>
              <a:rPr sz="1050" b="1" i="0" dirty="0">
                <a:solidFill>
                  <a:srgbClr val="00B050"/>
                </a:solidFill>
                <a:latin typeface="Aptos"/>
              </a:rPr>
              <a:t>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347472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21F37"/>
                </a:solidFill>
                <a:latin typeface="Aptos"/>
              </a:rPr>
              <a:t>Customer Health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749808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07089"/>
                </a:solidFill>
                <a:latin typeface="Aptos"/>
              </a:rPr>
              <a:t>Antecipe risco, priorize carteiras e acione planos preventivos.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12680" y="292608"/>
            <a:ext cx="1719072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95560" y="411480"/>
            <a:ext cx="11430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07089"/>
                </a:solidFill>
                <a:latin typeface="Aptos"/>
              </a:rPr>
              <a:t>Buscar insight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12680" y="786384"/>
            <a:ext cx="1719072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168128" y="896112"/>
            <a:ext cx="201168" cy="201168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68128" y="941832"/>
            <a:ext cx="201168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1592" y="877824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121F37"/>
                </a:solidFill>
                <a:latin typeface="Aptos"/>
              </a:rPr>
              <a:t>Silas Olanda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51592" y="1024128"/>
            <a:ext cx="10058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607089"/>
                </a:solidFill>
                <a:latin typeface="Aptos"/>
              </a:rPr>
              <a:t>Hackathon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81328" y="137160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627632" y="1527048"/>
            <a:ext cx="256032" cy="256032"/>
          </a:xfrm>
          <a:prstGeom prst="ellipse">
            <a:avLst/>
          </a:prstGeom>
          <a:solidFill>
            <a:srgbClr val="E8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709928" y="1609344"/>
            <a:ext cx="91440" cy="91440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984248" y="1517904"/>
            <a:ext cx="1335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607089"/>
                </a:solidFill>
                <a:latin typeface="Aptos"/>
              </a:rPr>
              <a:t>Health Score médio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1810512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21F37"/>
                </a:solidFill>
                <a:latin typeface="Aptos"/>
              </a:rPr>
              <a:t>78/100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70048" y="1993392"/>
            <a:ext cx="621792" cy="246888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670048" y="2043684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14CD78"/>
                </a:solidFill>
                <a:latin typeface="Aptos"/>
              </a:rPr>
              <a:t>+9%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730752" y="137160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877056" y="1527048"/>
            <a:ext cx="256032" cy="256032"/>
          </a:xfrm>
          <a:prstGeom prst="ellipse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959352" y="1609344"/>
            <a:ext cx="91440" cy="91440"/>
          </a:xfrm>
          <a:prstGeom prst="ellipse">
            <a:avLst/>
          </a:prstGeom>
          <a:solidFill>
            <a:srgbClr val="FF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33672" y="1517904"/>
            <a:ext cx="1335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607089"/>
                </a:solidFill>
                <a:latin typeface="Aptos"/>
              </a:rPr>
              <a:t>Clientes em risco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95344" y="1810512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21F37"/>
                </a:solidFill>
                <a:latin typeface="Aptos"/>
              </a:rPr>
              <a:t>7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19472" y="1993392"/>
            <a:ext cx="621792" cy="246888"/>
          </a:xfrm>
          <a:prstGeom prst="roundRect">
            <a:avLst>
              <a:gd name="adj" fmla="val 12000"/>
            </a:avLst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919472" y="2043684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FFA825"/>
                </a:solidFill>
                <a:latin typeface="Aptos"/>
              </a:rPr>
              <a:t>-3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80176" y="137160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126480" y="1527048"/>
            <a:ext cx="256032" cy="256032"/>
          </a:xfrm>
          <a:prstGeom prst="ellipse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208776" y="1609344"/>
            <a:ext cx="91440" cy="91440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83096" y="1517904"/>
            <a:ext cx="1335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607089"/>
                </a:solidFill>
                <a:latin typeface="Aptos"/>
              </a:rPr>
              <a:t>Adoção ativa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1810512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21F37"/>
                </a:solidFill>
                <a:latin typeface="Aptos"/>
              </a:rPr>
              <a:t>86%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168895" y="1993392"/>
            <a:ext cx="621792" cy="246888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168895" y="2043684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2663FF"/>
                </a:solidFill>
                <a:latin typeface="Aptos"/>
              </a:rPr>
              <a:t>+14%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29600" y="137160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375904" y="1527048"/>
            <a:ext cx="256032" cy="256032"/>
          </a:xfrm>
          <a:prstGeom prst="ellipse">
            <a:avLst/>
          </a:prstGeom>
          <a:solidFill>
            <a:srgbClr val="E8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8458200" y="1609344"/>
            <a:ext cx="91440" cy="91440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732520" y="1517904"/>
            <a:ext cx="13350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607089"/>
                </a:solidFill>
                <a:latin typeface="Aptos"/>
              </a:rPr>
              <a:t>Risco de churn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94192" y="1810512"/>
            <a:ext cx="1700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21F37"/>
                </a:solidFill>
                <a:latin typeface="Aptos"/>
              </a:rPr>
              <a:t>4,2%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418320" y="1993392"/>
            <a:ext cx="621792" cy="246888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418320" y="2043684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14CD78"/>
                </a:solidFill>
                <a:latin typeface="Aptos"/>
              </a:rPr>
              <a:t>-1,1pp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481328" y="2606040"/>
            <a:ext cx="544068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719072" y="285292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Saúde da carteira | 90 dias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19072" y="3081528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607089"/>
                </a:solidFill>
                <a:latin typeface="Aptos"/>
              </a:rPr>
              <a:t>Visão por tendência, não apenas fotografia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828800" y="5029200"/>
            <a:ext cx="4617720" cy="0"/>
          </a:xfrm>
          <a:prstGeom prst="line">
            <a:avLst/>
          </a:prstGeom>
          <a:ln w="7620">
            <a:solidFill>
              <a:srgbClr val="E6EB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572768" y="4965192"/>
            <a:ext cx="182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607089"/>
                </a:solidFill>
                <a:latin typeface="Aptos"/>
              </a:rPr>
              <a:t>0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828800" y="4652010"/>
            <a:ext cx="4617720" cy="0"/>
          </a:xfrm>
          <a:prstGeom prst="line">
            <a:avLst/>
          </a:prstGeom>
          <a:ln w="7620">
            <a:solidFill>
              <a:srgbClr val="E6EB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572768" y="4588002"/>
            <a:ext cx="182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607089"/>
                </a:solidFill>
                <a:latin typeface="Aptos"/>
              </a:rPr>
              <a:t>25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828800" y="4274820"/>
            <a:ext cx="4617720" cy="0"/>
          </a:xfrm>
          <a:prstGeom prst="line">
            <a:avLst/>
          </a:prstGeom>
          <a:ln w="7620">
            <a:solidFill>
              <a:srgbClr val="E6EB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572768" y="4210812"/>
            <a:ext cx="182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607089"/>
                </a:solidFill>
                <a:latin typeface="Aptos"/>
              </a:rPr>
              <a:t>50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828800" y="3897630"/>
            <a:ext cx="4617720" cy="0"/>
          </a:xfrm>
          <a:prstGeom prst="line">
            <a:avLst/>
          </a:prstGeom>
          <a:ln w="7620">
            <a:solidFill>
              <a:srgbClr val="E6EB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572768" y="3833622"/>
            <a:ext cx="182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607089"/>
                </a:solidFill>
                <a:latin typeface="Aptos"/>
              </a:rPr>
              <a:t>75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828800" y="3520440"/>
            <a:ext cx="4617720" cy="0"/>
          </a:xfrm>
          <a:prstGeom prst="line">
            <a:avLst/>
          </a:prstGeom>
          <a:ln w="7620">
            <a:solidFill>
              <a:srgbClr val="E6EB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572768" y="3456432"/>
            <a:ext cx="1828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607089"/>
                </a:solidFill>
                <a:latin typeface="Aptos"/>
              </a:rPr>
              <a:t>100</a:t>
            </a:r>
          </a:p>
        </p:txBody>
      </p:sp>
      <p:sp>
        <p:nvSpPr>
          <p:cNvPr id="82" name="Oval 81"/>
          <p:cNvSpPr/>
          <p:nvPr/>
        </p:nvSpPr>
        <p:spPr>
          <a:xfrm>
            <a:off x="1796796" y="4031589"/>
            <a:ext cx="64008" cy="64008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720339" y="3971239"/>
            <a:ext cx="64008" cy="64008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3643883" y="3925976"/>
            <a:ext cx="64008" cy="64008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4567427" y="3880713"/>
            <a:ext cx="64008" cy="64008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5490972" y="3850538"/>
            <a:ext cx="64008" cy="64008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6414516" y="3820363"/>
            <a:ext cx="64008" cy="64008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8" name="Connector 87"/>
          <p:cNvCxnSpPr/>
          <p:nvPr/>
        </p:nvCxnSpPr>
        <p:spPr>
          <a:xfrm flipV="1">
            <a:off x="1828800" y="4003243"/>
            <a:ext cx="923544" cy="60350"/>
          </a:xfrm>
          <a:prstGeom prst="line">
            <a:avLst/>
          </a:prstGeom>
          <a:ln w="25400">
            <a:solidFill>
              <a:srgbClr val="266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752344" y="3957980"/>
            <a:ext cx="923543" cy="45263"/>
          </a:xfrm>
          <a:prstGeom prst="line">
            <a:avLst/>
          </a:prstGeom>
          <a:ln w="25400">
            <a:solidFill>
              <a:srgbClr val="266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675887" y="3912717"/>
            <a:ext cx="923544" cy="45263"/>
          </a:xfrm>
          <a:prstGeom prst="line">
            <a:avLst/>
          </a:prstGeom>
          <a:ln w="25400">
            <a:solidFill>
              <a:srgbClr val="266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4599431" y="3882542"/>
            <a:ext cx="923545" cy="30175"/>
          </a:xfrm>
          <a:prstGeom prst="line">
            <a:avLst/>
          </a:prstGeom>
          <a:ln w="25400">
            <a:solidFill>
              <a:srgbClr val="266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5522976" y="3852367"/>
            <a:ext cx="923544" cy="30175"/>
          </a:xfrm>
          <a:prstGeom prst="line">
            <a:avLst/>
          </a:prstGeom>
          <a:ln w="25400">
            <a:solidFill>
              <a:srgbClr val="266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1796796" y="4107027"/>
            <a:ext cx="64008" cy="64008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2720339" y="4046677"/>
            <a:ext cx="64008" cy="64008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3643883" y="3986326"/>
            <a:ext cx="64008" cy="64008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4567427" y="3910888"/>
            <a:ext cx="64008" cy="64008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5490972" y="3790187"/>
            <a:ext cx="64008" cy="64008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6414516" y="3699662"/>
            <a:ext cx="64008" cy="64008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9" name="Connector 98"/>
          <p:cNvCxnSpPr/>
          <p:nvPr/>
        </p:nvCxnSpPr>
        <p:spPr>
          <a:xfrm flipV="1">
            <a:off x="1828800" y="4078681"/>
            <a:ext cx="923544" cy="60350"/>
          </a:xfrm>
          <a:prstGeom prst="line">
            <a:avLst/>
          </a:prstGeom>
          <a:ln w="25400">
            <a:solidFill>
              <a:srgbClr val="14C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2752344" y="4018330"/>
            <a:ext cx="923543" cy="60351"/>
          </a:xfrm>
          <a:prstGeom prst="line">
            <a:avLst/>
          </a:prstGeom>
          <a:ln w="25400">
            <a:solidFill>
              <a:srgbClr val="14C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675887" y="3942892"/>
            <a:ext cx="923544" cy="75438"/>
          </a:xfrm>
          <a:prstGeom prst="line">
            <a:avLst/>
          </a:prstGeom>
          <a:ln w="25400">
            <a:solidFill>
              <a:srgbClr val="14C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4599431" y="3822191"/>
            <a:ext cx="923545" cy="120701"/>
          </a:xfrm>
          <a:prstGeom prst="line">
            <a:avLst/>
          </a:prstGeom>
          <a:ln w="25400">
            <a:solidFill>
              <a:srgbClr val="14C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522976" y="3731666"/>
            <a:ext cx="923544" cy="90525"/>
          </a:xfrm>
          <a:prstGeom prst="line">
            <a:avLst/>
          </a:prstGeom>
          <a:ln w="25400">
            <a:solidFill>
              <a:srgbClr val="14CD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1719072" y="5193792"/>
            <a:ext cx="228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607089"/>
                </a:solidFill>
                <a:latin typeface="Aptos"/>
              </a:rPr>
              <a:t>Jun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642615" y="5193792"/>
            <a:ext cx="228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607089"/>
                </a:solidFill>
                <a:latin typeface="Aptos"/>
              </a:rPr>
              <a:t>Jul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566159" y="5193792"/>
            <a:ext cx="228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607089"/>
                </a:solidFill>
                <a:latin typeface="Aptos"/>
              </a:rPr>
              <a:t>Ago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489703" y="5193792"/>
            <a:ext cx="228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607089"/>
                </a:solidFill>
                <a:latin typeface="Aptos"/>
              </a:rPr>
              <a:t>Set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13248" y="5193792"/>
            <a:ext cx="228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607089"/>
                </a:solidFill>
                <a:latin typeface="Aptos"/>
              </a:rPr>
              <a:t>Out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36792" y="5193792"/>
            <a:ext cx="228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607089"/>
                </a:solidFill>
                <a:latin typeface="Aptos"/>
              </a:rPr>
              <a:t>Nov</a:t>
            </a:r>
          </a:p>
        </p:txBody>
      </p:sp>
      <p:sp>
        <p:nvSpPr>
          <p:cNvPr id="110" name="Oval 109"/>
          <p:cNvSpPr/>
          <p:nvPr/>
        </p:nvSpPr>
        <p:spPr>
          <a:xfrm>
            <a:off x="1920240" y="5321808"/>
            <a:ext cx="73152" cy="73152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029968" y="5294376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Health Score</a:t>
            </a:r>
          </a:p>
        </p:txBody>
      </p:sp>
      <p:sp>
        <p:nvSpPr>
          <p:cNvPr id="112" name="Oval 111"/>
          <p:cNvSpPr/>
          <p:nvPr/>
        </p:nvSpPr>
        <p:spPr>
          <a:xfrm>
            <a:off x="3154680" y="5321808"/>
            <a:ext cx="73152" cy="73152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3264408" y="529437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121F37"/>
                </a:solidFill>
                <a:latin typeface="Aptos"/>
              </a:rPr>
              <a:t>Adoção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178040" y="2606040"/>
            <a:ext cx="4553712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7406640" y="283464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Distribuição de risco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452360" y="3246120"/>
            <a:ext cx="640080" cy="246888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7452360" y="3296412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4CD78"/>
                </a:solidFill>
                <a:latin typeface="Aptos"/>
              </a:rPr>
              <a:t>Baixo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202168" y="3273552"/>
            <a:ext cx="2743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21F37"/>
                </a:solidFill>
                <a:latin typeface="Aptos"/>
              </a:rPr>
              <a:t>18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732520" y="3246120"/>
            <a:ext cx="640080" cy="246888"/>
          </a:xfrm>
          <a:prstGeom prst="roundRect">
            <a:avLst>
              <a:gd name="adj" fmla="val 12000"/>
            </a:avLst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732520" y="3296412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FFA825"/>
                </a:solidFill>
                <a:latin typeface="Aptos"/>
              </a:rPr>
              <a:t>Médio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482328" y="3273552"/>
            <a:ext cx="2743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21F37"/>
                </a:solidFill>
                <a:latin typeface="Aptos"/>
              </a:rPr>
              <a:t>9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012680" y="3246120"/>
            <a:ext cx="640080" cy="246888"/>
          </a:xfrm>
          <a:prstGeom prst="roundRect">
            <a:avLst>
              <a:gd name="adj" fmla="val 12000"/>
            </a:avLst>
          </a:prstGeom>
          <a:solidFill>
            <a:srgbClr val="FFECEC"/>
          </a:solidFill>
          <a:ln w="12700">
            <a:solidFill>
              <a:srgbClr val="FF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0012680" y="3296412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EE4343"/>
                </a:solidFill>
                <a:latin typeface="Aptos"/>
              </a:rPr>
              <a:t>Alto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762488" y="3273552"/>
            <a:ext cx="2743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21F37"/>
                </a:solidFill>
                <a:latin typeface="Aptos"/>
              </a:rPr>
              <a:t>4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7178040" y="4069080"/>
            <a:ext cx="4553712" cy="15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7406640" y="42976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Clientes sob atenção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406640" y="4526280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607089"/>
                </a:solidFill>
                <a:latin typeface="Aptos"/>
              </a:rPr>
              <a:t>Ação preventiva sugerida pela IA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24927" y="4681728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07089"/>
                </a:solidFill>
                <a:latin typeface="Aptos"/>
              </a:rPr>
              <a:t>Conta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641080" y="4681728"/>
            <a:ext cx="5486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07089"/>
                </a:solidFill>
                <a:latin typeface="Aptos"/>
              </a:rPr>
              <a:t>Score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281160" y="4681728"/>
            <a:ext cx="10058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07089"/>
                </a:solidFill>
                <a:latin typeface="Aptos"/>
              </a:rPr>
              <a:t>Sinal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332720" y="4681728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07089"/>
                </a:solidFill>
                <a:latin typeface="Aptos"/>
              </a:rPr>
              <a:t>Ação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24927" y="4956048"/>
            <a:ext cx="9601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1" i="0">
                <a:solidFill>
                  <a:srgbClr val="121F37"/>
                </a:solidFill>
                <a:latin typeface="Aptos"/>
              </a:rPr>
              <a:t>Conta Delta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668512" y="4887468"/>
            <a:ext cx="411480" cy="246888"/>
          </a:xfrm>
          <a:prstGeom prst="roundRect">
            <a:avLst>
              <a:gd name="adj" fmla="val 12000"/>
            </a:avLst>
          </a:prstGeom>
          <a:solidFill>
            <a:srgbClr val="FFECEC"/>
          </a:solidFill>
          <a:ln w="12700">
            <a:solidFill>
              <a:srgbClr val="FF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668512" y="4937760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EE4343"/>
                </a:solidFill>
                <a:latin typeface="Aptos"/>
              </a:rPr>
              <a:t>58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281160" y="4956048"/>
            <a:ext cx="9601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0" i="0">
                <a:solidFill>
                  <a:srgbClr val="121F37"/>
                </a:solidFill>
                <a:latin typeface="Aptos"/>
              </a:rPr>
              <a:t>Baixo uso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332720" y="4956048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0" i="0">
                <a:solidFill>
                  <a:srgbClr val="121F37"/>
                </a:solidFill>
                <a:latin typeface="Aptos"/>
              </a:rPr>
              <a:t>Contato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424927" y="5175504"/>
            <a:ext cx="9601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1" i="0">
                <a:solidFill>
                  <a:srgbClr val="121F37"/>
                </a:solidFill>
                <a:latin typeface="Aptos"/>
              </a:rPr>
              <a:t>Conta Ômega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668512" y="5106924"/>
            <a:ext cx="411480" cy="246888"/>
          </a:xfrm>
          <a:prstGeom prst="roundRect">
            <a:avLst>
              <a:gd name="adj" fmla="val 12000"/>
            </a:avLst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8668512" y="5157216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A825"/>
                </a:solidFill>
                <a:latin typeface="Aptos"/>
              </a:rPr>
              <a:t>61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281160" y="5175504"/>
            <a:ext cx="9601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0" i="0">
                <a:solidFill>
                  <a:srgbClr val="121F37"/>
                </a:solidFill>
                <a:latin typeface="Aptos"/>
              </a:rPr>
              <a:t>Tickets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332720" y="5175504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0" i="0">
                <a:solidFill>
                  <a:srgbClr val="121F37"/>
                </a:solidFill>
                <a:latin typeface="Aptos"/>
              </a:rPr>
              <a:t>Plano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24927" y="5394960"/>
            <a:ext cx="9601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1" i="0">
                <a:solidFill>
                  <a:srgbClr val="121F37"/>
                </a:solidFill>
                <a:latin typeface="Aptos"/>
              </a:rPr>
              <a:t>Conta Zeta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668512" y="5326380"/>
            <a:ext cx="411480" cy="246888"/>
          </a:xfrm>
          <a:prstGeom prst="roundRect">
            <a:avLst>
              <a:gd name="adj" fmla="val 12000"/>
            </a:avLst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8668512" y="5376672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A825"/>
                </a:solidFill>
                <a:latin typeface="Aptos"/>
              </a:rPr>
              <a:t>65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281160" y="5394960"/>
            <a:ext cx="9601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0" i="0">
                <a:solidFill>
                  <a:srgbClr val="121F37"/>
                </a:solidFill>
                <a:latin typeface="Aptos"/>
              </a:rPr>
              <a:t>Sem QBR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332720" y="5394960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0" i="0">
                <a:solidFill>
                  <a:srgbClr val="121F37"/>
                </a:solidFill>
                <a:latin typeface="Aptos"/>
              </a:rPr>
              <a:t>Agendar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481328" y="5897880"/>
            <a:ext cx="10250424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719072" y="6016752"/>
            <a:ext cx="7772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/>
              <a:t>Health AI detecta sinais fracos antes de churn, retrabalho ou escalonamento crítico.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34440" cy="6858000"/>
          </a:xfrm>
          <a:prstGeom prst="rect">
            <a:avLst/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(4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201168"/>
            <a:ext cx="932688" cy="1616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86868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Aptos"/>
              </a:rPr>
              <a:t>Revenue
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162763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56032" y="176479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" y="180136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77393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Cockpit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" y="222199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56032" y="235915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" y="239572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236829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>
                <a:solidFill>
                  <a:srgbClr val="C2CCE0"/>
                </a:solidFill>
              </a:rPr>
              <a:t>Meet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" y="281635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56032" y="295351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032" y="299008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96265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CRM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" y="341071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56032" y="354787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" y="358444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355701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Health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" y="400507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122755"/>
          </a:solidFill>
          <a:ln w="12700">
            <a:solidFill>
              <a:srgbClr val="122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7160" y="4005072"/>
            <a:ext cx="45720" cy="475488"/>
          </a:xfrm>
          <a:prstGeom prst="rect">
            <a:avLst/>
          </a:prstGeom>
          <a:solidFill>
            <a:srgbClr val="14CD78"/>
          </a:solidFill>
          <a:ln w="12700">
            <a:solidFill>
              <a:srgbClr val="14C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56032" y="4142232"/>
            <a:ext cx="182880" cy="182880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6032" y="417880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415137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Aptos"/>
              </a:rPr>
              <a:t>Desk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" y="459943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56032" y="473659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032" y="477316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474573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ROI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" y="6236208"/>
            <a:ext cx="896112" cy="310896"/>
          </a:xfrm>
          <a:prstGeom prst="roundRect">
            <a:avLst>
              <a:gd name="adj" fmla="val 12000"/>
            </a:avLst>
          </a:prstGeom>
          <a:solidFill>
            <a:srgbClr val="122755"/>
          </a:solidFill>
          <a:ln w="12700">
            <a:solidFill>
              <a:srgbClr val="122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4592" y="6300216"/>
            <a:ext cx="89611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Aptos"/>
              </a:rPr>
              <a:t>IA </a:t>
            </a:r>
            <a:r>
              <a:rPr sz="1050" b="1" i="0" dirty="0">
                <a:solidFill>
                  <a:srgbClr val="00B050"/>
                </a:solidFill>
                <a:latin typeface="Aptos"/>
              </a:rPr>
              <a:t>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347472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21F37"/>
                </a:solidFill>
                <a:latin typeface="Aptos"/>
              </a:rPr>
              <a:t>Service Desk Orchestrator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749808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07089"/>
                </a:solidFill>
                <a:latin typeface="Aptos"/>
              </a:rPr>
              <a:t>Da exceção operacional ao chamado certo, com contexto e prioridade.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12680" y="292608"/>
            <a:ext cx="1719072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95560" y="411480"/>
            <a:ext cx="11430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07089"/>
                </a:solidFill>
                <a:latin typeface="Aptos"/>
              </a:rPr>
              <a:t>Buscar insight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12680" y="786384"/>
            <a:ext cx="1719072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168128" y="896112"/>
            <a:ext cx="201168" cy="201168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68128" y="941832"/>
            <a:ext cx="201168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1592" y="877824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121F37"/>
                </a:solidFill>
                <a:latin typeface="Aptos"/>
              </a:rPr>
              <a:t>Silas Olanda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51592" y="1024128"/>
            <a:ext cx="10058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607089"/>
                </a:solidFill>
                <a:latin typeface="Aptos"/>
              </a:rPr>
              <a:t>Hackathon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81328" y="1353312"/>
            <a:ext cx="3063240" cy="4956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719072" y="160020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Origem do incidente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19072" y="182880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607089"/>
                </a:solidFill>
                <a:latin typeface="Aptos"/>
              </a:rPr>
              <a:t>Trigger vindo de reunião, CRM ou alerta operacional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19072" y="2148840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607089"/>
                </a:solidFill>
                <a:latin typeface="Aptos"/>
              </a:rPr>
              <a:t>Conta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4600" y="2148840"/>
            <a:ext cx="16916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21F37"/>
                </a:solidFill>
                <a:latin typeface="Aptos"/>
              </a:rPr>
              <a:t>Diniz Foods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19072" y="2496312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607089"/>
                </a:solidFill>
                <a:latin typeface="Aptos"/>
              </a:rPr>
              <a:t>Produto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4600" y="2496312"/>
            <a:ext cx="16916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21F37"/>
                </a:solidFill>
                <a:latin typeface="Aptos"/>
              </a:rPr>
              <a:t>WMS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19072" y="2843784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607089"/>
                </a:solidFill>
                <a:latin typeface="Aptos"/>
              </a:rPr>
              <a:t>Tipo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2843784"/>
            <a:ext cx="16916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21F37"/>
                </a:solidFill>
                <a:latin typeface="Aptos"/>
              </a:rPr>
              <a:t>Integração / inventário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19072" y="3191256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607089"/>
                </a:solidFill>
                <a:latin typeface="Aptos"/>
              </a:rPr>
              <a:t>Origem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14600" y="3191256"/>
            <a:ext cx="16916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121F37"/>
                </a:solidFill>
                <a:latin typeface="Aptos"/>
              </a:rPr>
              <a:t>Meeting + CRM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719072" y="3703320"/>
            <a:ext cx="2487168" cy="1234440"/>
          </a:xfrm>
          <a:prstGeom prst="roundRect">
            <a:avLst>
              <a:gd name="adj" fmla="val 12000"/>
            </a:avLst>
          </a:prstGeom>
          <a:solidFill>
            <a:srgbClr val="FAFC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874519" y="3886200"/>
            <a:ext cx="217627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21F37"/>
                </a:solidFill>
                <a:latin typeface="Aptos"/>
              </a:rPr>
              <a:t>Cliente precisa mapear fluxo do coletor com ERP e validar rastreabilidade do inventário.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74519" y="5257800"/>
            <a:ext cx="1005840" cy="384048"/>
          </a:xfrm>
          <a:prstGeom prst="roundRect">
            <a:avLst>
              <a:gd name="adj" fmla="val 12000"/>
            </a:avLst>
          </a:prstGeom>
          <a:solidFill>
            <a:srgbClr val="2663FF"/>
          </a:solidFill>
          <a:ln w="12700">
            <a:solidFill>
              <a:srgbClr val="26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874519" y="5358384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Classificar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73168" y="1353312"/>
            <a:ext cx="3063240" cy="4956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010912" y="160020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Classificação automática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10912" y="182880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607089"/>
                </a:solidFill>
                <a:latin typeface="Aptos"/>
              </a:rPr>
              <a:t>Causa, urgência e fila de atendimento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10912" y="2148840"/>
            <a:ext cx="9601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607089"/>
                </a:solidFill>
                <a:latin typeface="Aptos"/>
              </a:rPr>
              <a:t>Urgência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16752" y="2093976"/>
            <a:ext cx="1234440" cy="246888"/>
          </a:xfrm>
          <a:prstGeom prst="roundRect">
            <a:avLst>
              <a:gd name="adj" fmla="val 12000"/>
            </a:avLst>
          </a:prstGeom>
          <a:solidFill>
            <a:srgbClr val="FFECEC"/>
          </a:solidFill>
          <a:ln w="12700">
            <a:solidFill>
              <a:srgbClr val="FF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016752" y="2144268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EE4343"/>
                </a:solidFill>
                <a:latin typeface="Aptos"/>
              </a:rPr>
              <a:t>Alta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10912" y="2532888"/>
            <a:ext cx="9601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607089"/>
                </a:solidFill>
                <a:latin typeface="Aptos"/>
              </a:rPr>
              <a:t>Categoria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16752" y="2478024"/>
            <a:ext cx="1234440" cy="246888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016752" y="2528316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2663FF"/>
                </a:solidFill>
                <a:latin typeface="Aptos"/>
              </a:rPr>
              <a:t>Implantação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10912" y="2916936"/>
            <a:ext cx="9601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607089"/>
                </a:solidFill>
                <a:latin typeface="Aptos"/>
              </a:rPr>
              <a:t>Subcategoria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16752" y="2862072"/>
            <a:ext cx="1234440" cy="246888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016752" y="2912364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2663FF"/>
                </a:solidFill>
                <a:latin typeface="Aptos"/>
              </a:rPr>
              <a:t>Integração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10912" y="3300984"/>
            <a:ext cx="9601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607089"/>
                </a:solidFill>
                <a:latin typeface="Aptos"/>
              </a:rPr>
              <a:t>Fila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016752" y="3246120"/>
            <a:ext cx="1234440" cy="246888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16752" y="3296412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14CD78"/>
                </a:solidFill>
                <a:latin typeface="Aptos"/>
              </a:rPr>
              <a:t>Projetos / Suporte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10912" y="3685032"/>
            <a:ext cx="9601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607089"/>
                </a:solidFill>
                <a:latin typeface="Aptos"/>
              </a:rPr>
              <a:t>SLA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16752" y="3630168"/>
            <a:ext cx="1234440" cy="246888"/>
          </a:xfrm>
          <a:prstGeom prst="roundRect">
            <a:avLst>
              <a:gd name="adj" fmla="val 12000"/>
            </a:avLst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016752" y="3680460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9" b="1" i="0">
                <a:solidFill>
                  <a:srgbClr val="FFA825"/>
                </a:solidFill>
                <a:latin typeface="Aptos"/>
              </a:rPr>
              <a:t>24 horas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10912" y="4389120"/>
            <a:ext cx="2487168" cy="1005840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193792" y="4590288"/>
            <a:ext cx="2057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07089"/>
                </a:solidFill>
                <a:latin typeface="Aptos"/>
              </a:rPr>
              <a:t>Benefício prático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93792" y="4828032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21F37"/>
                </a:solidFill>
                <a:latin typeface="Aptos"/>
              </a:rPr>
              <a:t>O chamado nasce pronto, priorizado e com dono.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065008" y="1353312"/>
            <a:ext cx="3666744" cy="4956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302752" y="160020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Chamado pronto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02752" y="182880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607089"/>
                </a:solidFill>
                <a:latin typeface="Aptos"/>
              </a:rPr>
              <a:t>Simulação de integração com Desk Manager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02752" y="2148840"/>
            <a:ext cx="6858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607089"/>
                </a:solidFill>
                <a:latin typeface="Aptos"/>
              </a:rPr>
              <a:t>Título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06840" y="2148840"/>
            <a:ext cx="2377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21F37"/>
                </a:solidFill>
                <a:latin typeface="Aptos"/>
              </a:rPr>
              <a:t>Rastreabilidade no inventário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302752" y="2606040"/>
            <a:ext cx="3063240" cy="1325880"/>
          </a:xfrm>
          <a:prstGeom prst="roundRect">
            <a:avLst>
              <a:gd name="adj" fmla="val 12000"/>
            </a:avLst>
          </a:prstGeom>
          <a:solidFill>
            <a:srgbClr val="FAFC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458200" y="2788920"/>
            <a:ext cx="276148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0" i="0" dirty="0" err="1">
                <a:solidFill>
                  <a:srgbClr val="121F37"/>
                </a:solidFill>
                <a:latin typeface="Aptos"/>
              </a:rPr>
              <a:t>Revisar</a:t>
            </a:r>
            <a:r>
              <a:rPr sz="930" b="0" i="0" dirty="0">
                <a:solidFill>
                  <a:srgbClr val="121F37"/>
                </a:solidFill>
                <a:latin typeface="Aptos"/>
              </a:rPr>
              <a:t> </a:t>
            </a:r>
            <a:r>
              <a:rPr sz="930" b="0" i="0" dirty="0" err="1">
                <a:solidFill>
                  <a:srgbClr val="121F37"/>
                </a:solidFill>
                <a:latin typeface="Aptos"/>
              </a:rPr>
              <a:t>fluxo</a:t>
            </a:r>
            <a:r>
              <a:rPr sz="930" b="0" i="0" dirty="0">
                <a:solidFill>
                  <a:srgbClr val="121F37"/>
                </a:solidFill>
                <a:latin typeface="Aptos"/>
              </a:rPr>
              <a:t> de </a:t>
            </a:r>
            <a:r>
              <a:rPr sz="930" b="0" i="0" dirty="0" err="1">
                <a:solidFill>
                  <a:srgbClr val="121F37"/>
                </a:solidFill>
                <a:latin typeface="Aptos"/>
              </a:rPr>
              <a:t>inventário</a:t>
            </a:r>
            <a:r>
              <a:rPr sz="930" b="0" i="0" dirty="0">
                <a:solidFill>
                  <a:srgbClr val="121F37"/>
                </a:solidFill>
                <a:latin typeface="Aptos"/>
              </a:rPr>
              <a:t> via </a:t>
            </a:r>
            <a:r>
              <a:rPr sz="930" b="0" i="0" dirty="0" err="1">
                <a:solidFill>
                  <a:srgbClr val="121F37"/>
                </a:solidFill>
                <a:latin typeface="Aptos"/>
              </a:rPr>
              <a:t>coletor</a:t>
            </a:r>
            <a:r>
              <a:rPr sz="930" b="0" i="0" dirty="0">
                <a:solidFill>
                  <a:srgbClr val="121F37"/>
                </a:solidFill>
                <a:latin typeface="Aptos"/>
              </a:rPr>
              <a:t>, </a:t>
            </a:r>
            <a:r>
              <a:rPr sz="930" b="0" i="0" dirty="0" err="1">
                <a:solidFill>
                  <a:srgbClr val="121F37"/>
                </a:solidFill>
                <a:latin typeface="Aptos"/>
              </a:rPr>
              <a:t>validar</a:t>
            </a:r>
            <a:r>
              <a:rPr sz="930" b="0" i="0" dirty="0">
                <a:solidFill>
                  <a:srgbClr val="121F37"/>
                </a:solidFill>
                <a:latin typeface="Aptos"/>
              </a:rPr>
              <a:t> </a:t>
            </a:r>
            <a:r>
              <a:rPr sz="930" b="0" i="0" dirty="0" err="1">
                <a:solidFill>
                  <a:srgbClr val="121F37"/>
                </a:solidFill>
                <a:latin typeface="Aptos"/>
              </a:rPr>
              <a:t>integração</a:t>
            </a:r>
            <a:r>
              <a:rPr sz="930" b="0" i="0" dirty="0">
                <a:solidFill>
                  <a:srgbClr val="121F37"/>
                </a:solidFill>
                <a:latin typeface="Aptos"/>
              </a:rPr>
              <a:t> com ERP e </a:t>
            </a:r>
            <a:r>
              <a:rPr sz="930" b="0" i="0" dirty="0" err="1">
                <a:solidFill>
                  <a:srgbClr val="121F37"/>
                </a:solidFill>
                <a:latin typeface="Aptos"/>
              </a:rPr>
              <a:t>estruturar</a:t>
            </a:r>
            <a:r>
              <a:rPr sz="930" b="0" i="0" dirty="0">
                <a:solidFill>
                  <a:srgbClr val="121F37"/>
                </a:solidFill>
                <a:latin typeface="Aptos"/>
              </a:rPr>
              <a:t> plano </a:t>
            </a:r>
            <a:r>
              <a:rPr sz="930" b="0" i="0" dirty="0" err="1">
                <a:solidFill>
                  <a:srgbClr val="121F37"/>
                </a:solidFill>
                <a:latin typeface="Aptos"/>
              </a:rPr>
              <a:t>técnico</a:t>
            </a:r>
            <a:r>
              <a:rPr sz="930" b="0" i="0" dirty="0">
                <a:solidFill>
                  <a:srgbClr val="121F37"/>
                </a:solidFill>
                <a:latin typeface="Aptos"/>
              </a:rPr>
              <a:t> para </a:t>
            </a:r>
            <a:r>
              <a:rPr sz="930" b="0" i="0" dirty="0" err="1">
                <a:solidFill>
                  <a:srgbClr val="121F37"/>
                </a:solidFill>
                <a:latin typeface="Aptos"/>
              </a:rPr>
              <a:t>aumentar</a:t>
            </a:r>
            <a:r>
              <a:rPr sz="930" b="0" i="0" dirty="0">
                <a:solidFill>
                  <a:srgbClr val="121F37"/>
                </a:solidFill>
                <a:latin typeface="Aptos"/>
              </a:rPr>
              <a:t> </a:t>
            </a:r>
            <a:r>
              <a:rPr sz="930" b="0" i="0" dirty="0" err="1">
                <a:solidFill>
                  <a:srgbClr val="121F37"/>
                </a:solidFill>
                <a:latin typeface="Aptos"/>
              </a:rPr>
              <a:t>acuracidade</a:t>
            </a:r>
            <a:r>
              <a:rPr sz="930" b="0" i="0" dirty="0">
                <a:solidFill>
                  <a:srgbClr val="121F37"/>
                </a:solidFill>
                <a:latin typeface="Aptos"/>
              </a:rPr>
              <a:t>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302752" y="4206240"/>
            <a:ext cx="914400" cy="246888"/>
          </a:xfrm>
          <a:prstGeom prst="roundRect">
            <a:avLst>
              <a:gd name="adj" fmla="val 12000"/>
            </a:avLst>
          </a:prstGeom>
          <a:solidFill>
            <a:srgbClr val="FFECEC"/>
          </a:solidFill>
          <a:ln w="12700">
            <a:solidFill>
              <a:srgbClr val="FF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02752" y="4256531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EE4343"/>
                </a:solidFill>
                <a:latin typeface="Aptos"/>
              </a:rPr>
              <a:t>Alta prioridade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372600" y="4206240"/>
            <a:ext cx="713232" cy="246888"/>
          </a:xfrm>
          <a:prstGeom prst="roundRect">
            <a:avLst>
              <a:gd name="adj" fmla="val 12000"/>
            </a:avLst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372600" y="4256531"/>
            <a:ext cx="7132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FFA825"/>
                </a:solidFill>
                <a:latin typeface="Aptos"/>
              </a:rPr>
              <a:t>SLA 24h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241280" y="4206240"/>
            <a:ext cx="868680" cy="246888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241280" y="425653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14CD78"/>
                </a:solidFill>
                <a:latin typeface="Aptos"/>
              </a:rPr>
              <a:t>Projetos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02752" y="4754880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 i="0">
                <a:solidFill>
                  <a:srgbClr val="121F37"/>
                </a:solidFill>
                <a:latin typeface="Aptos"/>
              </a:rPr>
              <a:t>Quando a exceção vira ticket do jeito certo, a operação perde menos tempo explicando e ganha mais tempo resolvendo.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321040" y="5532120"/>
            <a:ext cx="1143000" cy="384048"/>
          </a:xfrm>
          <a:prstGeom prst="roundRect">
            <a:avLst>
              <a:gd name="adj" fmla="val 12000"/>
            </a:avLst>
          </a:prstGeom>
          <a:solidFill>
            <a:srgbClr val="14CD78"/>
          </a:solidFill>
          <a:ln w="12700">
            <a:solidFill>
              <a:srgbClr val="14C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321040" y="5632704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Abrir chamado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646920" y="5532120"/>
            <a:ext cx="1234440" cy="384048"/>
          </a:xfrm>
          <a:prstGeom prst="roundRect">
            <a:avLst>
              <a:gd name="adj" fmla="val 12000"/>
            </a:avLst>
          </a:prstGeom>
          <a:solidFill>
            <a:srgbClr val="2663FF"/>
          </a:solidFill>
          <a:ln w="12700">
            <a:solidFill>
              <a:srgbClr val="26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646920" y="563270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Notificar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34440" cy="6858000"/>
          </a:xfrm>
          <a:prstGeom prst="rect">
            <a:avLst/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(4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201168"/>
            <a:ext cx="932688" cy="1616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86868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Aptos"/>
              </a:rPr>
              <a:t>Revenue
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162763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56032" y="176479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" y="180136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77393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Cockpit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" y="222199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56032" y="235915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" y="239572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236829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>
                <a:solidFill>
                  <a:srgbClr val="C2CCE0"/>
                </a:solidFill>
              </a:rPr>
              <a:t>Meet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" y="281635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56032" y="295351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032" y="299008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96265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CRM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" y="341071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56032" y="354787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" y="358444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355701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Health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" y="400507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0A1939"/>
          </a:solidFill>
          <a:ln w="12700">
            <a:solidFill>
              <a:srgbClr val="0A1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56032" y="4142232"/>
            <a:ext cx="182880" cy="182880"/>
          </a:xfrm>
          <a:prstGeom prst="ellipse">
            <a:avLst/>
          </a:prstGeom>
          <a:solidFill>
            <a:srgbClr val="465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032" y="417880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" y="415137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C2CCE0"/>
                </a:solidFill>
                <a:latin typeface="Aptos"/>
              </a:rPr>
              <a:t>Desk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" y="4599432"/>
            <a:ext cx="960120" cy="475488"/>
          </a:xfrm>
          <a:prstGeom prst="roundRect">
            <a:avLst>
              <a:gd name="adj" fmla="val 12000"/>
            </a:avLst>
          </a:prstGeom>
          <a:solidFill>
            <a:srgbClr val="122755"/>
          </a:solidFill>
          <a:ln w="12700">
            <a:solidFill>
              <a:srgbClr val="122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37160" y="4599432"/>
            <a:ext cx="45720" cy="475488"/>
          </a:xfrm>
          <a:prstGeom prst="rect">
            <a:avLst/>
          </a:prstGeom>
          <a:solidFill>
            <a:srgbClr val="14CD78"/>
          </a:solidFill>
          <a:ln w="12700">
            <a:solidFill>
              <a:srgbClr val="14C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56032" y="4736592"/>
            <a:ext cx="182880" cy="182880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032" y="4773168"/>
            <a:ext cx="182880" cy="731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4745736"/>
            <a:ext cx="502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Aptos"/>
              </a:rPr>
              <a:t>ROI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" y="6236208"/>
            <a:ext cx="896112" cy="310896"/>
          </a:xfrm>
          <a:prstGeom prst="roundRect">
            <a:avLst>
              <a:gd name="adj" fmla="val 12000"/>
            </a:avLst>
          </a:prstGeom>
          <a:solidFill>
            <a:srgbClr val="122755"/>
          </a:solidFill>
          <a:ln w="12700">
            <a:solidFill>
              <a:srgbClr val="122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4592" y="6300216"/>
            <a:ext cx="89611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Aptos"/>
              </a:rPr>
              <a:t>IA </a:t>
            </a:r>
            <a:r>
              <a:rPr sz="1050" b="1" i="0" dirty="0">
                <a:solidFill>
                  <a:srgbClr val="00B050"/>
                </a:solidFill>
                <a:latin typeface="Aptos"/>
              </a:rPr>
              <a:t>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347472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21F37"/>
                </a:solidFill>
                <a:latin typeface="Aptos"/>
              </a:rPr>
              <a:t>Cockpit Executivo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749808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07089"/>
                </a:solidFill>
                <a:latin typeface="Aptos"/>
              </a:rPr>
              <a:t>A leitura que traduz o produto em ganho, velocidade e posicionamento estratégico.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12680" y="292608"/>
            <a:ext cx="1719072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95560" y="411480"/>
            <a:ext cx="11430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07089"/>
                </a:solidFill>
                <a:latin typeface="Aptos"/>
              </a:rPr>
              <a:t>Buscar insight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12680" y="786384"/>
            <a:ext cx="1719072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168128" y="896112"/>
            <a:ext cx="201168" cy="201168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68128" y="941832"/>
            <a:ext cx="201168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1592" y="877824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121F37"/>
                </a:solidFill>
                <a:latin typeface="Aptos"/>
              </a:rPr>
              <a:t>Silas Olanda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51592" y="1024128"/>
            <a:ext cx="10058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 i="0">
                <a:solidFill>
                  <a:srgbClr val="607089"/>
                </a:solidFill>
                <a:latin typeface="Aptos"/>
              </a:rPr>
              <a:t>Hackathon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81328" y="13716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627632" y="1527048"/>
            <a:ext cx="256032" cy="256032"/>
          </a:xfrm>
          <a:prstGeom prst="ellipse">
            <a:avLst/>
          </a:prstGeom>
          <a:solidFill>
            <a:srgbClr val="E8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709928" y="1609344"/>
            <a:ext cx="91440" cy="91440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984248" y="1517904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607089"/>
                </a:solidFill>
                <a:latin typeface="Aptos"/>
              </a:rPr>
              <a:t>Economia administrativa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181051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21F37"/>
                </a:solidFill>
                <a:latin typeface="Aptos"/>
              </a:rPr>
              <a:t>46h/mês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80944" y="1993392"/>
            <a:ext cx="621792" cy="246888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980944" y="2043684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14CD78"/>
                </a:solidFill>
                <a:latin typeface="Aptos"/>
              </a:rPr>
              <a:t>+70%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69080" y="13716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215384" y="1527048"/>
            <a:ext cx="256032" cy="256032"/>
          </a:xfrm>
          <a:prstGeom prst="ellipse">
            <a:avLst/>
          </a:prstGeom>
          <a:solidFill>
            <a:srgbClr val="EB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4297680" y="1609344"/>
            <a:ext cx="91440" cy="91440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0" y="1517904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607089"/>
                </a:solidFill>
                <a:latin typeface="Aptos"/>
              </a:rPr>
              <a:t>Velocidade de follow-up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33672" y="181051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21F37"/>
                </a:solidFill>
                <a:latin typeface="Aptos"/>
              </a:rPr>
              <a:t>-80%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568696" y="1993392"/>
            <a:ext cx="621792" cy="246888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568696" y="2043684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2663FF"/>
                </a:solidFill>
                <a:latin typeface="Aptos"/>
              </a:rPr>
              <a:t>tempo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56832" y="13716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803136" y="1527048"/>
            <a:ext cx="256032" cy="256032"/>
          </a:xfrm>
          <a:prstGeom prst="ellipse">
            <a:avLst/>
          </a:prstGeom>
          <a:solidFill>
            <a:srgbClr val="E8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885432" y="1609344"/>
            <a:ext cx="91440" cy="91440"/>
          </a:xfrm>
          <a:prstGeom prst="ellipse">
            <a:avLst/>
          </a:prstGeom>
          <a:solidFill>
            <a:srgbClr val="14C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159752" y="1517904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 i="0">
                <a:solidFill>
                  <a:srgbClr val="607089"/>
                </a:solidFill>
                <a:latin typeface="Aptos"/>
              </a:rPr>
              <a:t>Risco operacional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21424" y="181051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21F37"/>
                </a:solidFill>
                <a:latin typeface="Aptos"/>
              </a:rPr>
              <a:t>-32%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56448" y="1993392"/>
            <a:ext cx="621792" cy="246888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156448" y="2043684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i="0">
                <a:solidFill>
                  <a:srgbClr val="14CD78"/>
                </a:solidFill>
                <a:latin typeface="Aptos"/>
              </a:rPr>
              <a:t>alertas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481328" y="2606040"/>
            <a:ext cx="480060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719072" y="285292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Impacto por etapa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19072" y="3081528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607089"/>
                </a:solidFill>
                <a:latin typeface="Aptos"/>
              </a:rPr>
              <a:t>Minutos médios por rotina antes e depois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83080" y="3429000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607089"/>
                </a:solidFill>
                <a:latin typeface="Aptos"/>
              </a:rPr>
              <a:t>Reunião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578608" y="3447288"/>
            <a:ext cx="2377440" cy="100584"/>
          </a:xfrm>
          <a:prstGeom prst="roundRect">
            <a:avLst>
              <a:gd name="adj" fmla="val 12000"/>
            </a:avLst>
          </a:prstGeom>
          <a:solidFill>
            <a:srgbClr val="E4EAF4"/>
          </a:solidFill>
          <a:ln w="12700">
            <a:solidFill>
              <a:srgbClr val="E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2578608" y="3447288"/>
            <a:ext cx="2377440" cy="100584"/>
          </a:xfrm>
          <a:prstGeom prst="roundRect">
            <a:avLst>
              <a:gd name="adj" fmla="val 12000"/>
            </a:avLst>
          </a:prstGeom>
          <a:solidFill>
            <a:srgbClr val="B6C2D5"/>
          </a:solidFill>
          <a:ln w="12700">
            <a:solidFill>
              <a:srgbClr val="B6C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2578608" y="3584448"/>
            <a:ext cx="2377440" cy="100584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2578608" y="3584448"/>
            <a:ext cx="316992" cy="100584"/>
          </a:xfrm>
          <a:prstGeom prst="roundRect">
            <a:avLst>
              <a:gd name="adj" fmla="val 12000"/>
            </a:avLst>
          </a:prstGeom>
          <a:solidFill>
            <a:srgbClr val="2663FF"/>
          </a:solidFill>
          <a:ln w="12700">
            <a:solidFill>
              <a:srgbClr val="26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047488" y="3410712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607089"/>
                </a:solidFill>
                <a:latin typeface="Aptos"/>
              </a:rPr>
              <a:t>60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13248" y="3547872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2663FF"/>
                </a:solidFill>
                <a:latin typeface="Aptos"/>
              </a:rPr>
              <a:t>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83080" y="3840480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607089"/>
                </a:solidFill>
                <a:latin typeface="Aptos"/>
              </a:rPr>
              <a:t>CRM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578608" y="3858768"/>
            <a:ext cx="2377440" cy="100584"/>
          </a:xfrm>
          <a:prstGeom prst="roundRect">
            <a:avLst>
              <a:gd name="adj" fmla="val 12000"/>
            </a:avLst>
          </a:prstGeom>
          <a:solidFill>
            <a:srgbClr val="E4EAF4"/>
          </a:solidFill>
          <a:ln w="12700">
            <a:solidFill>
              <a:srgbClr val="E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2578608" y="3858768"/>
            <a:ext cx="1783080" cy="100584"/>
          </a:xfrm>
          <a:prstGeom prst="roundRect">
            <a:avLst>
              <a:gd name="adj" fmla="val 12000"/>
            </a:avLst>
          </a:prstGeom>
          <a:solidFill>
            <a:srgbClr val="B6C2D5"/>
          </a:solidFill>
          <a:ln w="12700">
            <a:solidFill>
              <a:srgbClr val="B6C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2578608" y="3995928"/>
            <a:ext cx="2377440" cy="100584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2578608" y="3995928"/>
            <a:ext cx="237744" cy="100584"/>
          </a:xfrm>
          <a:prstGeom prst="roundRect">
            <a:avLst>
              <a:gd name="adj" fmla="val 12000"/>
            </a:avLst>
          </a:prstGeom>
          <a:solidFill>
            <a:srgbClr val="2663FF"/>
          </a:solidFill>
          <a:ln w="12700">
            <a:solidFill>
              <a:srgbClr val="26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047488" y="3822192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607089"/>
                </a:solidFill>
                <a:latin typeface="Aptos"/>
              </a:rPr>
              <a:t>45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13248" y="3959352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2663FF"/>
                </a:solidFill>
                <a:latin typeface="Aptos"/>
              </a:rP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83080" y="4251960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607089"/>
                </a:solidFill>
                <a:latin typeface="Aptos"/>
              </a:rPr>
              <a:t>Follow-up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578608" y="4270248"/>
            <a:ext cx="2377440" cy="100584"/>
          </a:xfrm>
          <a:prstGeom prst="roundRect">
            <a:avLst>
              <a:gd name="adj" fmla="val 12000"/>
            </a:avLst>
          </a:prstGeom>
          <a:solidFill>
            <a:srgbClr val="E4EAF4"/>
          </a:solidFill>
          <a:ln w="12700">
            <a:solidFill>
              <a:srgbClr val="E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2578608" y="4270248"/>
            <a:ext cx="1188720" cy="100584"/>
          </a:xfrm>
          <a:prstGeom prst="roundRect">
            <a:avLst>
              <a:gd name="adj" fmla="val 12000"/>
            </a:avLst>
          </a:prstGeom>
          <a:solidFill>
            <a:srgbClr val="B6C2D5"/>
          </a:solidFill>
          <a:ln w="12700">
            <a:solidFill>
              <a:srgbClr val="B6C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2578608" y="4407408"/>
            <a:ext cx="2377440" cy="100584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2578608" y="4407408"/>
            <a:ext cx="158496" cy="100584"/>
          </a:xfrm>
          <a:prstGeom prst="roundRect">
            <a:avLst>
              <a:gd name="adj" fmla="val 12000"/>
            </a:avLst>
          </a:prstGeom>
          <a:solidFill>
            <a:srgbClr val="2663FF"/>
          </a:solidFill>
          <a:ln w="12700">
            <a:solidFill>
              <a:srgbClr val="26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047488" y="4233672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607089"/>
                </a:solidFill>
                <a:latin typeface="Aptos"/>
              </a:rPr>
              <a:t>30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13248" y="4370832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2663FF"/>
                </a:solidFill>
                <a:latin typeface="Aptos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783080" y="4663440"/>
            <a:ext cx="7315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607089"/>
                </a:solidFill>
                <a:latin typeface="Aptos"/>
              </a:rPr>
              <a:t>Escalação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578608" y="4681727"/>
            <a:ext cx="2377440" cy="100584"/>
          </a:xfrm>
          <a:prstGeom prst="roundRect">
            <a:avLst>
              <a:gd name="adj" fmla="val 12000"/>
            </a:avLst>
          </a:prstGeom>
          <a:solidFill>
            <a:srgbClr val="E4EAF4"/>
          </a:solidFill>
          <a:ln w="12700">
            <a:solidFill>
              <a:srgbClr val="E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2578608" y="4681727"/>
            <a:ext cx="990599" cy="100584"/>
          </a:xfrm>
          <a:prstGeom prst="roundRect">
            <a:avLst>
              <a:gd name="adj" fmla="val 12000"/>
            </a:avLst>
          </a:prstGeom>
          <a:solidFill>
            <a:srgbClr val="B6C2D5"/>
          </a:solidFill>
          <a:ln w="12700">
            <a:solidFill>
              <a:srgbClr val="B6C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2578608" y="4818888"/>
            <a:ext cx="2377440" cy="100584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2578608" y="4818888"/>
            <a:ext cx="198120" cy="100584"/>
          </a:xfrm>
          <a:prstGeom prst="roundRect">
            <a:avLst>
              <a:gd name="adj" fmla="val 12000"/>
            </a:avLst>
          </a:prstGeom>
          <a:solidFill>
            <a:srgbClr val="2663FF"/>
          </a:solidFill>
          <a:ln w="12700">
            <a:solidFill>
              <a:srgbClr val="26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047488" y="4645152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607089"/>
                </a:solidFill>
                <a:latin typeface="Aptos"/>
              </a:rPr>
              <a:t>25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13248" y="4782312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2663FF"/>
                </a:solidFill>
                <a:latin typeface="Aptos"/>
              </a:rPr>
              <a:t>5</a:t>
            </a:r>
          </a:p>
        </p:txBody>
      </p:sp>
      <p:sp>
        <p:nvSpPr>
          <p:cNvPr id="93" name="Oval 92"/>
          <p:cNvSpPr/>
          <p:nvPr/>
        </p:nvSpPr>
        <p:spPr>
          <a:xfrm>
            <a:off x="1828800" y="5285232"/>
            <a:ext cx="73152" cy="73152"/>
          </a:xfrm>
          <a:prstGeom prst="ellipse">
            <a:avLst/>
          </a:prstGeom>
          <a:solidFill>
            <a:srgbClr val="B6C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947672" y="5257800"/>
            <a:ext cx="5486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07089"/>
                </a:solidFill>
                <a:latin typeface="Aptos"/>
              </a:rPr>
              <a:t>Antes</a:t>
            </a:r>
          </a:p>
        </p:txBody>
      </p:sp>
      <p:sp>
        <p:nvSpPr>
          <p:cNvPr id="95" name="Oval 94"/>
          <p:cNvSpPr/>
          <p:nvPr/>
        </p:nvSpPr>
        <p:spPr>
          <a:xfrm>
            <a:off x="2606040" y="5285232"/>
            <a:ext cx="73152" cy="73152"/>
          </a:xfrm>
          <a:prstGeom prst="ellipse">
            <a:avLst/>
          </a:prstGeom>
          <a:solidFill>
            <a:srgbClr val="26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724912" y="5257800"/>
            <a:ext cx="7772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21F37"/>
                </a:solidFill>
                <a:latin typeface="Aptos"/>
              </a:rPr>
              <a:t>Com Copilot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37960" y="2606040"/>
            <a:ext cx="519379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784848" y="283464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Mensagem para a banca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784848" y="32004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 i="0">
                <a:solidFill>
                  <a:srgbClr val="121F37"/>
                </a:solidFill>
                <a:latin typeface="Aptos"/>
              </a:rPr>
              <a:t>Não é apenas um dashboard bonito. É um software que reduz trabalho manual, melhora disciplina comercial e conecta informação à ação.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537960" y="4187952"/>
            <a:ext cx="5193792" cy="13898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784848" y="440740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40" b="1" i="0">
                <a:solidFill>
                  <a:srgbClr val="121F37"/>
                </a:solidFill>
                <a:latin typeface="Aptos"/>
              </a:rPr>
              <a:t>Fluxo unificado da solução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812280" y="4873752"/>
            <a:ext cx="1051560" cy="384048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812280" y="498348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663FF"/>
                </a:solidFill>
                <a:latin typeface="Aptos"/>
              </a:rPr>
              <a:t>Teams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092440" y="4873752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E8FBF2"/>
          </a:solidFill>
          <a:ln w="12700">
            <a:solidFill>
              <a:srgbClr val="E8F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092440" y="4983480"/>
            <a:ext cx="14173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4CD78"/>
                </a:solidFill>
                <a:latin typeface="Aptos"/>
              </a:rPr>
              <a:t>Revenue Copilot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829800" y="4873752"/>
            <a:ext cx="914400" cy="384048"/>
          </a:xfrm>
          <a:prstGeom prst="roundRect">
            <a:avLst>
              <a:gd name="adj" fmla="val 12000"/>
            </a:avLst>
          </a:prstGeom>
          <a:solidFill>
            <a:srgbClr val="EBF2FF"/>
          </a:solidFill>
          <a:ln w="12700">
            <a:solidFill>
              <a:srgbClr val="EB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829800" y="4983480"/>
            <a:ext cx="914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663FF"/>
                </a:solidFill>
                <a:latin typeface="Aptos"/>
              </a:rPr>
              <a:t>Pipedrive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835640" y="4873752"/>
            <a:ext cx="685800" cy="384048"/>
          </a:xfrm>
          <a:prstGeom prst="roundRect">
            <a:avLst>
              <a:gd name="adj" fmla="val 12000"/>
            </a:avLst>
          </a:prstGeom>
          <a:solidFill>
            <a:srgbClr val="FFF5E6"/>
          </a:solidFill>
          <a:ln w="12700">
            <a:solidFill>
              <a:srgbClr val="FF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835640" y="4983480"/>
            <a:ext cx="6858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FFA825"/>
                </a:solidFill>
                <a:latin typeface="Aptos"/>
              </a:rPr>
              <a:t>Desk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7863840" y="5065776"/>
            <a:ext cx="228600" cy="0"/>
          </a:xfrm>
          <a:prstGeom prst="line">
            <a:avLst/>
          </a:prstGeom>
          <a:ln w="17780">
            <a:solidFill>
              <a:srgbClr val="607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509760" y="5065776"/>
            <a:ext cx="320040" cy="0"/>
          </a:xfrm>
          <a:prstGeom prst="line">
            <a:avLst/>
          </a:prstGeom>
          <a:ln w="17780">
            <a:solidFill>
              <a:srgbClr val="607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716768" y="5065776"/>
            <a:ext cx="118872" cy="0"/>
          </a:xfrm>
          <a:prstGeom prst="line">
            <a:avLst/>
          </a:prstGeom>
          <a:ln w="17780">
            <a:solidFill>
              <a:srgbClr val="607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1481328" y="5897880"/>
            <a:ext cx="10250424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719072" y="6016752"/>
            <a:ext cx="77724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21F37"/>
                </a:solidFill>
                <a:latin typeface="Aptos"/>
              </a:rPr>
              <a:t>Fechamento: a Mobiis passa a transformar informação dispersa em decisão comercial clara, rápida e padronizada.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287000" y="5934456"/>
            <a:ext cx="1234440" cy="384048"/>
          </a:xfrm>
          <a:prstGeom prst="roundRect">
            <a:avLst>
              <a:gd name="adj" fmla="val 12000"/>
            </a:avLst>
          </a:prstGeom>
          <a:solidFill>
            <a:srgbClr val="14CD78"/>
          </a:solidFill>
          <a:ln w="12700">
            <a:solidFill>
              <a:srgbClr val="14C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287000" y="6035040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Demo pronta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1123</Words>
  <Application>Microsoft Office PowerPoint</Application>
  <PresentationFormat>Widescreen</PresentationFormat>
  <Paragraphs>413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Silas Costa Carvalho Pereira de Olanda</cp:lastModifiedBy>
  <cp:revision>2</cp:revision>
  <dcterms:created xsi:type="dcterms:W3CDTF">2013-01-27T09:14:16Z</dcterms:created>
  <dcterms:modified xsi:type="dcterms:W3CDTF">2026-05-15T18:42:46Z</dcterms:modified>
  <cp:category/>
</cp:coreProperties>
</file>